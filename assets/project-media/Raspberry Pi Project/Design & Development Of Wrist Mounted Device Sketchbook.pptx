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10"/>
  </p:notesMasterIdLst>
  <p:sldIdLst>
    <p:sldId id="256" r:id="rId2"/>
    <p:sldId id="261" r:id="rId3"/>
    <p:sldId id="257" r:id="rId4"/>
    <p:sldId id="260" r:id="rId5"/>
    <p:sldId id="262" r:id="rId6"/>
    <p:sldId id="259" r:id="rId7"/>
    <p:sldId id="258"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Section" id="{AA8E3C91-6784-474B-9D37-05C033278094}">
          <p14:sldIdLst>
            <p14:sldId id="256"/>
            <p14:sldId id="261"/>
          </p14:sldIdLst>
        </p14:section>
        <p14:section name="Project Timeline" id="{A1915DD1-F4DF-4889-8954-51266A06F45D}">
          <p14:sldIdLst>
            <p14:sldId id="257"/>
          </p14:sldIdLst>
        </p14:section>
        <p14:section name="Inspiration" id="{FC65DBAF-6531-4063-B315-54362245A3BA}">
          <p14:sldIdLst>
            <p14:sldId id="260"/>
            <p14:sldId id="262"/>
          </p14:sldIdLst>
        </p14:section>
        <p14:section name="Inital Sketches" id="{1E0F1664-F26B-4142-801B-750010FCCA2D}">
          <p14:sldIdLst>
            <p14:sldId id="259"/>
          </p14:sldIdLst>
        </p14:section>
        <p14:section name="Physical Prototype" id="{5A78D613-E80B-4A73-9A87-DF628F09119C}">
          <p14:sldIdLst>
            <p14:sldId id="258"/>
          </p14:sldIdLst>
        </p14:section>
        <p14:section name="References" id="{E61F0D7C-7DDB-4568-9CD5-4C77513446D3}">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17F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05862A-059C-48A4-BFEF-A4A92962857E}" type="datetimeFigureOut">
              <a:rPr lang="en-GB" smtClean="0"/>
              <a:t>09/03/2024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A1AD34-E963-452E-9C5A-D8A90B51AE84}" type="slidenum">
              <a:rPr lang="en-GB" smtClean="0"/>
              <a:t>‹#›</a:t>
            </a:fld>
            <a:endParaRPr lang="en-GB"/>
          </a:p>
        </p:txBody>
      </p:sp>
    </p:spTree>
    <p:extLst>
      <p:ext uri="{BB962C8B-B14F-4D97-AF65-F5344CB8AC3E}">
        <p14:creationId xmlns:p14="http://schemas.microsoft.com/office/powerpoint/2010/main" val="3768210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12BED07-6713-92AA-40AF-AE58F4F83C7A}"/>
              </a:ext>
            </a:extLst>
          </p:cNvPr>
          <p:cNvSpPr>
            <a:spLocks noGrp="1"/>
          </p:cNvSpPr>
          <p:nvPr>
            <p:ph type="subTitle" idx="1"/>
          </p:nvPr>
        </p:nvSpPr>
        <p:spPr>
          <a:xfrm>
            <a:off x="1608406" y="4512376"/>
            <a:ext cx="8639776" cy="900190"/>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4FC9EF77-BF49-E4C1-0FC7-563354777900}"/>
              </a:ext>
            </a:extLst>
          </p:cNvPr>
          <p:cNvSpPr>
            <a:spLocks noGrp="1"/>
          </p:cNvSpPr>
          <p:nvPr>
            <p:ph type="dt" sz="half" idx="10"/>
          </p:nvPr>
        </p:nvSpPr>
        <p:spPr/>
        <p:txBody>
          <a:bodyPr/>
          <a:lstStyle/>
          <a:p>
            <a:fld id="{E7736193-EDE3-4BB5-AE5F-E6E5472AB8BE}" type="datetimeFigureOut">
              <a:rPr lang="en-US" smtClean="0"/>
              <a:t>3/9/2024</a:t>
            </a:fld>
            <a:endParaRPr lang="en-US"/>
          </a:p>
        </p:txBody>
      </p:sp>
      <p:sp>
        <p:nvSpPr>
          <p:cNvPr id="5" name="Footer Placeholder 4">
            <a:extLst>
              <a:ext uri="{FF2B5EF4-FFF2-40B4-BE49-F238E27FC236}">
                <a16:creationId xmlns:a16="http://schemas.microsoft.com/office/drawing/2014/main" id="{72BD5853-25AA-1C3D-EAD2-496674792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7F0DAD-5850-CAAE-CD25-4D6DDDFF3A18}"/>
              </a:ext>
            </a:extLst>
          </p:cNvPr>
          <p:cNvSpPr>
            <a:spLocks noGrp="1"/>
          </p:cNvSpPr>
          <p:nvPr>
            <p:ph type="sldNum" sz="quarter" idx="12"/>
          </p:nvPr>
        </p:nvSpPr>
        <p:spPr/>
        <p:txBody>
          <a:bodyPr/>
          <a:lstStyle/>
          <a:p>
            <a:fld id="{1CC2C9B9-B4B7-45CC-A7EB-16F8BADE9045}" type="slidenum">
              <a:rPr lang="en-US" smtClean="0"/>
              <a:t>‹#›</a:t>
            </a:fld>
            <a:endParaRPr lang="en-US"/>
          </a:p>
        </p:txBody>
      </p:sp>
      <p:sp>
        <p:nvSpPr>
          <p:cNvPr id="2" name="Title 1">
            <a:extLst>
              <a:ext uri="{FF2B5EF4-FFF2-40B4-BE49-F238E27FC236}">
                <a16:creationId xmlns:a16="http://schemas.microsoft.com/office/drawing/2014/main" id="{534851B1-0B20-9549-0D70-886AA9D04532}"/>
              </a:ext>
            </a:extLst>
          </p:cNvPr>
          <p:cNvSpPr>
            <a:spLocks noGrp="1"/>
          </p:cNvSpPr>
          <p:nvPr>
            <p:ph type="ctrTitle"/>
          </p:nvPr>
        </p:nvSpPr>
        <p:spPr>
          <a:xfrm>
            <a:off x="1608406" y="1720884"/>
            <a:ext cx="8639775" cy="2734693"/>
          </a:xfrm>
          <a:noFill/>
        </p:spPr>
        <p:txBody>
          <a:bodyPr anchor="b">
            <a:normAutofit/>
          </a:bodyPr>
          <a:lstStyle>
            <a:lvl1pPr algn="l">
              <a:defRPr sz="3200" spc="530" baseline="0"/>
            </a:lvl1pPr>
          </a:lstStyle>
          <a:p>
            <a:r>
              <a:rPr lang="en-US" dirty="0"/>
              <a:t>Click to edit Master title style</a:t>
            </a:r>
          </a:p>
        </p:txBody>
      </p:sp>
    </p:spTree>
    <p:extLst>
      <p:ext uri="{BB962C8B-B14F-4D97-AF65-F5344CB8AC3E}">
        <p14:creationId xmlns:p14="http://schemas.microsoft.com/office/powerpoint/2010/main" val="2527299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8F26-B5E3-8A90-51FC-8520D1D732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EA4D95-10F3-6212-8302-5610C43E32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81BE7-A53D-441E-0393-0E59412C9117}"/>
              </a:ext>
            </a:extLst>
          </p:cNvPr>
          <p:cNvSpPr>
            <a:spLocks noGrp="1"/>
          </p:cNvSpPr>
          <p:nvPr>
            <p:ph type="dt" sz="half" idx="10"/>
          </p:nvPr>
        </p:nvSpPr>
        <p:spPr/>
        <p:txBody>
          <a:bodyPr/>
          <a:lstStyle/>
          <a:p>
            <a:fld id="{E7736193-EDE3-4BB5-AE5F-E6E5472AB8BE}" type="datetimeFigureOut">
              <a:rPr lang="en-US" smtClean="0"/>
              <a:t>3/9/2024</a:t>
            </a:fld>
            <a:endParaRPr lang="en-US"/>
          </a:p>
        </p:txBody>
      </p:sp>
      <p:sp>
        <p:nvSpPr>
          <p:cNvPr id="5" name="Footer Placeholder 4">
            <a:extLst>
              <a:ext uri="{FF2B5EF4-FFF2-40B4-BE49-F238E27FC236}">
                <a16:creationId xmlns:a16="http://schemas.microsoft.com/office/drawing/2014/main" id="{0DEF10F0-B23F-BF4B-DB66-9BCF734DB9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65DDEC-13A7-D988-D082-03076F80F1F0}"/>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2786021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80CFA-45ED-71B0-EE3E-CCE6D5C19377}"/>
              </a:ext>
            </a:extLst>
          </p:cNvPr>
          <p:cNvSpPr>
            <a:spLocks noGrp="1"/>
          </p:cNvSpPr>
          <p:nvPr>
            <p:ph type="title"/>
          </p:nvPr>
        </p:nvSpPr>
        <p:spPr>
          <a:xfrm>
            <a:off x="1622474" y="2413788"/>
            <a:ext cx="8085116" cy="2737521"/>
          </a:xfrm>
        </p:spPr>
        <p:txBody>
          <a:bodyPr anchor="t">
            <a:normAutofit/>
          </a:bodyPr>
          <a:lstStyle>
            <a:lvl1pPr>
              <a:defRPr sz="3200"/>
            </a:lvl1pPr>
          </a:lstStyle>
          <a:p>
            <a:r>
              <a:rPr lang="en-US" dirty="0"/>
              <a:t>Click to edit Master title style</a:t>
            </a:r>
          </a:p>
        </p:txBody>
      </p:sp>
      <p:sp>
        <p:nvSpPr>
          <p:cNvPr id="3" name="Text Placeholder 2">
            <a:extLst>
              <a:ext uri="{FF2B5EF4-FFF2-40B4-BE49-F238E27FC236}">
                <a16:creationId xmlns:a16="http://schemas.microsoft.com/office/drawing/2014/main" id="{8F37BECA-A01D-7D7A-F2A6-891EC9D22945}"/>
              </a:ext>
            </a:extLst>
          </p:cNvPr>
          <p:cNvSpPr>
            <a:spLocks noGrp="1"/>
          </p:cNvSpPr>
          <p:nvPr>
            <p:ph type="body" idx="1"/>
          </p:nvPr>
        </p:nvSpPr>
        <p:spPr>
          <a:xfrm>
            <a:off x="1622474" y="1351721"/>
            <a:ext cx="8085118" cy="993913"/>
          </a:xfrm>
        </p:spPr>
        <p:txBody>
          <a:bodyPr anchor="b">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6716478-6FAF-D420-0B87-6EABB81E887C}"/>
              </a:ext>
            </a:extLst>
          </p:cNvPr>
          <p:cNvSpPr>
            <a:spLocks noGrp="1"/>
          </p:cNvSpPr>
          <p:nvPr>
            <p:ph type="dt" sz="half" idx="10"/>
          </p:nvPr>
        </p:nvSpPr>
        <p:spPr/>
        <p:txBody>
          <a:bodyPr/>
          <a:lstStyle/>
          <a:p>
            <a:fld id="{E7736193-EDE3-4BB5-AE5F-E6E5472AB8BE}" type="datetimeFigureOut">
              <a:rPr lang="en-US" smtClean="0"/>
              <a:t>3/9/2024</a:t>
            </a:fld>
            <a:endParaRPr lang="en-US"/>
          </a:p>
        </p:txBody>
      </p:sp>
      <p:sp>
        <p:nvSpPr>
          <p:cNvPr id="5" name="Footer Placeholder 4">
            <a:extLst>
              <a:ext uri="{FF2B5EF4-FFF2-40B4-BE49-F238E27FC236}">
                <a16:creationId xmlns:a16="http://schemas.microsoft.com/office/drawing/2014/main" id="{87C4289B-CB0D-8AFC-7C02-F755C0DCC8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71E4-8A9E-2A30-D7FE-B3505124BB9D}"/>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27026142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7F941-C3A7-545F-8046-C7A9AC80300E}"/>
              </a:ext>
            </a:extLst>
          </p:cNvPr>
          <p:cNvSpPr>
            <a:spLocks noGrp="1"/>
          </p:cNvSpPr>
          <p:nvPr>
            <p:ph type="title"/>
          </p:nvPr>
        </p:nvSpPr>
        <p:spPr>
          <a:xfrm>
            <a:off x="1615817" y="1272209"/>
            <a:ext cx="9164725" cy="1033670"/>
          </a:xfrm>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41BD4277-CFAE-EEF6-3346-61F06D5A3945}"/>
              </a:ext>
            </a:extLst>
          </p:cNvPr>
          <p:cNvSpPr>
            <a:spLocks noGrp="1"/>
          </p:cNvSpPr>
          <p:nvPr>
            <p:ph sz="half" idx="1"/>
          </p:nvPr>
        </p:nvSpPr>
        <p:spPr>
          <a:xfrm>
            <a:off x="1615817" y="2425148"/>
            <a:ext cx="4188635" cy="316064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9543384-699D-84FC-C8B5-7BDE49BB4478}"/>
              </a:ext>
            </a:extLst>
          </p:cNvPr>
          <p:cNvSpPr>
            <a:spLocks noGrp="1"/>
          </p:cNvSpPr>
          <p:nvPr>
            <p:ph sz="half" idx="2"/>
          </p:nvPr>
        </p:nvSpPr>
        <p:spPr>
          <a:xfrm>
            <a:off x="6371355" y="2425148"/>
            <a:ext cx="4188635" cy="316064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0A49386-AFC8-03DA-4563-07B0A0119B1C}"/>
              </a:ext>
            </a:extLst>
          </p:cNvPr>
          <p:cNvSpPr>
            <a:spLocks noGrp="1"/>
          </p:cNvSpPr>
          <p:nvPr>
            <p:ph type="dt" sz="half" idx="10"/>
          </p:nvPr>
        </p:nvSpPr>
        <p:spPr/>
        <p:txBody>
          <a:bodyPr/>
          <a:lstStyle/>
          <a:p>
            <a:fld id="{E7736193-EDE3-4BB5-AE5F-E6E5472AB8BE}" type="datetimeFigureOut">
              <a:rPr lang="en-US" smtClean="0"/>
              <a:t>3/9/2024</a:t>
            </a:fld>
            <a:endParaRPr lang="en-US"/>
          </a:p>
        </p:txBody>
      </p:sp>
      <p:sp>
        <p:nvSpPr>
          <p:cNvPr id="6" name="Footer Placeholder 5">
            <a:extLst>
              <a:ext uri="{FF2B5EF4-FFF2-40B4-BE49-F238E27FC236}">
                <a16:creationId xmlns:a16="http://schemas.microsoft.com/office/drawing/2014/main" id="{23AED60A-7704-31D9-7D4D-65C635EDF8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6927DA-3B5E-13B8-0BA8-5DCFF001E05E}"/>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1232843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7B55A-280B-BDCB-F966-8578DDE741DC}"/>
              </a:ext>
            </a:extLst>
          </p:cNvPr>
          <p:cNvSpPr>
            <a:spLocks noGrp="1"/>
          </p:cNvSpPr>
          <p:nvPr>
            <p:ph type="title"/>
          </p:nvPr>
        </p:nvSpPr>
        <p:spPr>
          <a:xfrm>
            <a:off x="1017442" y="600817"/>
            <a:ext cx="10079497" cy="1168706"/>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0C76EA03-7008-14AB-547B-E66EA4EC968F}"/>
              </a:ext>
            </a:extLst>
          </p:cNvPr>
          <p:cNvSpPr>
            <a:spLocks noGrp="1"/>
          </p:cNvSpPr>
          <p:nvPr>
            <p:ph type="body" idx="1"/>
          </p:nvPr>
        </p:nvSpPr>
        <p:spPr>
          <a:xfrm>
            <a:off x="1017442" y="1798488"/>
            <a:ext cx="4599587" cy="668492"/>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D629F56-D2C8-71FE-FA59-002819D51856}"/>
              </a:ext>
            </a:extLst>
          </p:cNvPr>
          <p:cNvSpPr>
            <a:spLocks noGrp="1"/>
          </p:cNvSpPr>
          <p:nvPr>
            <p:ph sz="half" idx="2"/>
          </p:nvPr>
        </p:nvSpPr>
        <p:spPr>
          <a:xfrm>
            <a:off x="1017442" y="2777279"/>
            <a:ext cx="4599587" cy="32769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12524D2-CA8D-75F3-D089-C2F0E20D4759}"/>
              </a:ext>
            </a:extLst>
          </p:cNvPr>
          <p:cNvSpPr>
            <a:spLocks noGrp="1"/>
          </p:cNvSpPr>
          <p:nvPr>
            <p:ph type="body" sz="quarter" idx="3"/>
          </p:nvPr>
        </p:nvSpPr>
        <p:spPr>
          <a:xfrm>
            <a:off x="6497352" y="1798488"/>
            <a:ext cx="4599588" cy="668492"/>
          </a:xfrm>
        </p:spPr>
        <p:txBody>
          <a:bodyPr anchor="b"/>
          <a:lstStyle>
            <a:lvl1pPr marL="0" indent="0">
              <a:buNone/>
              <a:defRPr sz="24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EE99B0E3-5AE5-0516-27BF-9F246137FE03}"/>
              </a:ext>
            </a:extLst>
          </p:cNvPr>
          <p:cNvSpPr>
            <a:spLocks noGrp="1"/>
          </p:cNvSpPr>
          <p:nvPr>
            <p:ph sz="quarter" idx="4"/>
          </p:nvPr>
        </p:nvSpPr>
        <p:spPr>
          <a:xfrm>
            <a:off x="6497352" y="2777279"/>
            <a:ext cx="4599588" cy="327693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F7B319A7-6048-4735-B2AC-6D6043F1461A}"/>
              </a:ext>
            </a:extLst>
          </p:cNvPr>
          <p:cNvSpPr>
            <a:spLocks noGrp="1"/>
          </p:cNvSpPr>
          <p:nvPr>
            <p:ph type="dt" sz="half" idx="10"/>
          </p:nvPr>
        </p:nvSpPr>
        <p:spPr/>
        <p:txBody>
          <a:bodyPr/>
          <a:lstStyle/>
          <a:p>
            <a:fld id="{E7736193-EDE3-4BB5-AE5F-E6E5472AB8BE}" type="datetimeFigureOut">
              <a:rPr lang="en-US" smtClean="0"/>
              <a:t>3/9/2024</a:t>
            </a:fld>
            <a:endParaRPr lang="en-US"/>
          </a:p>
        </p:txBody>
      </p:sp>
      <p:sp>
        <p:nvSpPr>
          <p:cNvPr id="8" name="Footer Placeholder 7">
            <a:extLst>
              <a:ext uri="{FF2B5EF4-FFF2-40B4-BE49-F238E27FC236}">
                <a16:creationId xmlns:a16="http://schemas.microsoft.com/office/drawing/2014/main" id="{6515F875-F23E-D0D2-9115-CD494FDA00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B4F88F-F488-D9D5-CF99-AA1750AAFC39}"/>
              </a:ext>
            </a:extLst>
          </p:cNvPr>
          <p:cNvSpPr>
            <a:spLocks noGrp="1"/>
          </p:cNvSpPr>
          <p:nvPr>
            <p:ph type="sldNum" sz="quarter" idx="12"/>
          </p:nvPr>
        </p:nvSpPr>
        <p:spPr/>
        <p:txBody>
          <a:bodyPr/>
          <a:lstStyle/>
          <a:p>
            <a:fld id="{1CC2C9B9-B4B7-45CC-A7EB-16F8BADE9045}" type="slidenum">
              <a:rPr lang="en-US" smtClean="0"/>
              <a:t>‹#›</a:t>
            </a:fld>
            <a:endParaRPr lang="en-US"/>
          </a:p>
        </p:txBody>
      </p:sp>
      <p:cxnSp>
        <p:nvCxnSpPr>
          <p:cNvPr id="13" name="Straight Connector 12">
            <a:extLst>
              <a:ext uri="{FF2B5EF4-FFF2-40B4-BE49-F238E27FC236}">
                <a16:creationId xmlns:a16="http://schemas.microsoft.com/office/drawing/2014/main" id="{B5094593-EFC2-EEEF-74CD-BD00F4132A94}"/>
              </a:ext>
            </a:extLst>
          </p:cNvPr>
          <p:cNvCxnSpPr>
            <a:cxnSpLocks/>
          </p:cNvCxnSpPr>
          <p:nvPr/>
        </p:nvCxnSpPr>
        <p:spPr>
          <a:xfrm>
            <a:off x="6571185" y="2593591"/>
            <a:ext cx="4525755"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F851F6D-436C-FA47-8CD1-2C10E735764A}"/>
              </a:ext>
            </a:extLst>
          </p:cNvPr>
          <p:cNvCxnSpPr>
            <a:cxnSpLocks/>
          </p:cNvCxnSpPr>
          <p:nvPr/>
        </p:nvCxnSpPr>
        <p:spPr>
          <a:xfrm>
            <a:off x="1107503" y="2593591"/>
            <a:ext cx="4509526"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244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91B86-9261-4E82-EF65-30F78154E2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3A5E84-E43B-20AE-E80D-47CB0B07BD7B}"/>
              </a:ext>
            </a:extLst>
          </p:cNvPr>
          <p:cNvSpPr>
            <a:spLocks noGrp="1"/>
          </p:cNvSpPr>
          <p:nvPr>
            <p:ph type="dt" sz="half" idx="10"/>
          </p:nvPr>
        </p:nvSpPr>
        <p:spPr/>
        <p:txBody>
          <a:bodyPr/>
          <a:lstStyle/>
          <a:p>
            <a:fld id="{E7736193-EDE3-4BB5-AE5F-E6E5472AB8BE}" type="datetimeFigureOut">
              <a:rPr lang="en-US" smtClean="0"/>
              <a:t>3/9/2024</a:t>
            </a:fld>
            <a:endParaRPr lang="en-US"/>
          </a:p>
        </p:txBody>
      </p:sp>
      <p:sp>
        <p:nvSpPr>
          <p:cNvPr id="4" name="Footer Placeholder 3">
            <a:extLst>
              <a:ext uri="{FF2B5EF4-FFF2-40B4-BE49-F238E27FC236}">
                <a16:creationId xmlns:a16="http://schemas.microsoft.com/office/drawing/2014/main" id="{2AFF5797-14F1-9FEB-247C-0E325AF74D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B5D7AF-1489-8F93-4828-0AE784B8BA8F}"/>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3790187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6CAF1C-8901-AE05-E52C-D5B95941055B}"/>
              </a:ext>
            </a:extLst>
          </p:cNvPr>
          <p:cNvSpPr>
            <a:spLocks noGrp="1"/>
          </p:cNvSpPr>
          <p:nvPr>
            <p:ph type="dt" sz="half" idx="10"/>
          </p:nvPr>
        </p:nvSpPr>
        <p:spPr/>
        <p:txBody>
          <a:bodyPr/>
          <a:lstStyle/>
          <a:p>
            <a:fld id="{E7736193-EDE3-4BB5-AE5F-E6E5472AB8BE}" type="datetimeFigureOut">
              <a:rPr lang="en-US" smtClean="0"/>
              <a:t>3/9/2024</a:t>
            </a:fld>
            <a:endParaRPr lang="en-US"/>
          </a:p>
        </p:txBody>
      </p:sp>
      <p:sp>
        <p:nvSpPr>
          <p:cNvPr id="3" name="Footer Placeholder 2">
            <a:extLst>
              <a:ext uri="{FF2B5EF4-FFF2-40B4-BE49-F238E27FC236}">
                <a16:creationId xmlns:a16="http://schemas.microsoft.com/office/drawing/2014/main" id="{E1CD4F90-2973-4FE2-6C2C-5C2AC5C5A8F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D50414B-A7EC-0C14-EFD2-29C5582CC184}"/>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780514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378C7-A764-C5E4-A6A4-DC5B1B3537FB}"/>
              </a:ext>
            </a:extLst>
          </p:cNvPr>
          <p:cNvSpPr>
            <a:spLocks noGrp="1"/>
          </p:cNvSpPr>
          <p:nvPr>
            <p:ph type="title"/>
          </p:nvPr>
        </p:nvSpPr>
        <p:spPr>
          <a:xfrm>
            <a:off x="1380121" y="1391478"/>
            <a:ext cx="3288432" cy="1951414"/>
          </a:xfrm>
        </p:spPr>
        <p:txBody>
          <a:bodyPr anchor="t">
            <a:normAutofit/>
          </a:bodyPr>
          <a:lstStyle>
            <a:lvl1pPr>
              <a:defRPr sz="2400"/>
            </a:lvl1pPr>
          </a:lstStyle>
          <a:p>
            <a:r>
              <a:rPr lang="en-US" dirty="0"/>
              <a:t>Click to edit Master title style</a:t>
            </a:r>
          </a:p>
        </p:txBody>
      </p:sp>
      <p:sp>
        <p:nvSpPr>
          <p:cNvPr id="3" name="Content Placeholder 2">
            <a:extLst>
              <a:ext uri="{FF2B5EF4-FFF2-40B4-BE49-F238E27FC236}">
                <a16:creationId xmlns:a16="http://schemas.microsoft.com/office/drawing/2014/main" id="{27DFE178-4B5D-413B-6583-AB81E8D04180}"/>
              </a:ext>
            </a:extLst>
          </p:cNvPr>
          <p:cNvSpPr>
            <a:spLocks noGrp="1"/>
          </p:cNvSpPr>
          <p:nvPr>
            <p:ph idx="1"/>
          </p:nvPr>
        </p:nvSpPr>
        <p:spPr>
          <a:xfrm>
            <a:off x="6003235" y="920080"/>
            <a:ext cx="5312467" cy="502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8DB92F6D-71AB-9630-9DBE-46041C50C79A}"/>
              </a:ext>
            </a:extLst>
          </p:cNvPr>
          <p:cNvSpPr>
            <a:spLocks noGrp="1"/>
          </p:cNvSpPr>
          <p:nvPr>
            <p:ph type="body" sz="half" idx="2"/>
          </p:nvPr>
        </p:nvSpPr>
        <p:spPr>
          <a:xfrm>
            <a:off x="1380121" y="3566727"/>
            <a:ext cx="3288432" cy="1766325"/>
          </a:xfrm>
        </p:spPr>
        <p:txBody>
          <a:bodyPr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0FEAAD1-C919-6E2E-32D2-E199025FB8F9}"/>
              </a:ext>
            </a:extLst>
          </p:cNvPr>
          <p:cNvSpPr>
            <a:spLocks noGrp="1"/>
          </p:cNvSpPr>
          <p:nvPr>
            <p:ph type="dt" sz="half" idx="10"/>
          </p:nvPr>
        </p:nvSpPr>
        <p:spPr/>
        <p:txBody>
          <a:bodyPr/>
          <a:lstStyle/>
          <a:p>
            <a:fld id="{E7736193-EDE3-4BB5-AE5F-E6E5472AB8BE}" type="datetimeFigureOut">
              <a:rPr lang="en-US" smtClean="0"/>
              <a:t>3/9/2024</a:t>
            </a:fld>
            <a:endParaRPr lang="en-US"/>
          </a:p>
        </p:txBody>
      </p:sp>
      <p:sp>
        <p:nvSpPr>
          <p:cNvPr id="6" name="Footer Placeholder 5">
            <a:extLst>
              <a:ext uri="{FF2B5EF4-FFF2-40B4-BE49-F238E27FC236}">
                <a16:creationId xmlns:a16="http://schemas.microsoft.com/office/drawing/2014/main" id="{5288B5D8-E15B-BE38-2A89-BD0F02E1A0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7ECC26-B78C-4CBD-6883-97E80D3E5165}"/>
              </a:ext>
            </a:extLst>
          </p:cNvPr>
          <p:cNvSpPr>
            <a:spLocks noGrp="1"/>
          </p:cNvSpPr>
          <p:nvPr>
            <p:ph type="sldNum" sz="quarter" idx="12"/>
          </p:nvPr>
        </p:nvSpPr>
        <p:spPr/>
        <p:txBody>
          <a:bodyPr/>
          <a:lstStyle/>
          <a:p>
            <a:fld id="{1CC2C9B9-B4B7-45CC-A7EB-16F8BADE9045}" type="slidenum">
              <a:rPr lang="en-US" smtClean="0"/>
              <a:t>‹#›</a:t>
            </a:fld>
            <a:endParaRPr lang="en-US"/>
          </a:p>
        </p:txBody>
      </p:sp>
      <p:sp>
        <p:nvSpPr>
          <p:cNvPr id="11" name="Rectangle 10">
            <a:extLst>
              <a:ext uri="{FF2B5EF4-FFF2-40B4-BE49-F238E27FC236}">
                <a16:creationId xmlns:a16="http://schemas.microsoft.com/office/drawing/2014/main" id="{96AAC029-BE5C-900C-E7D2-DE6E31789D1E}"/>
              </a:ext>
              <a:ext uri="{C183D7F6-B498-43B3-948B-1728B52AA6E4}">
                <adec:decorative xmlns:adec="http://schemas.microsoft.com/office/drawing/2017/decorative" val="1"/>
              </a:ext>
            </a:extLst>
          </p:cNvPr>
          <p:cNvSpPr/>
          <p:nvPr/>
        </p:nvSpPr>
        <p:spPr>
          <a:xfrm>
            <a:off x="933198" y="931857"/>
            <a:ext cx="4305523"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05612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4EAA-30F7-390A-C77C-2E5BD8218BC0}"/>
              </a:ext>
            </a:extLst>
          </p:cNvPr>
          <p:cNvSpPr>
            <a:spLocks noGrp="1"/>
          </p:cNvSpPr>
          <p:nvPr>
            <p:ph type="title"/>
          </p:nvPr>
        </p:nvSpPr>
        <p:spPr>
          <a:xfrm>
            <a:off x="1380120" y="1391478"/>
            <a:ext cx="3322510" cy="2037522"/>
          </a:xfrm>
        </p:spPr>
        <p:txBody>
          <a:bodyPr anchor="t">
            <a:normAutofit/>
          </a:bodyPr>
          <a:lstStyle>
            <a:lvl1pPr>
              <a:defRPr sz="2400"/>
            </a:lvl1pPr>
          </a:lstStyle>
          <a:p>
            <a:r>
              <a:rPr lang="en-US" dirty="0"/>
              <a:t>Click to edit Master title style</a:t>
            </a:r>
          </a:p>
        </p:txBody>
      </p:sp>
      <p:sp useBgFill="1">
        <p:nvSpPr>
          <p:cNvPr id="3" name="Picture Placeholder 2">
            <a:extLst>
              <a:ext uri="{FF2B5EF4-FFF2-40B4-BE49-F238E27FC236}">
                <a16:creationId xmlns:a16="http://schemas.microsoft.com/office/drawing/2014/main" id="{513A1C34-81AC-D534-67B1-42721228935F}"/>
              </a:ext>
            </a:extLst>
          </p:cNvPr>
          <p:cNvSpPr>
            <a:spLocks noGrp="1"/>
          </p:cNvSpPr>
          <p:nvPr>
            <p:ph type="pic" idx="1"/>
          </p:nvPr>
        </p:nvSpPr>
        <p:spPr>
          <a:xfrm>
            <a:off x="5907143" y="931857"/>
            <a:ext cx="5351659" cy="499630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E1012D-3524-26C6-64C1-8CE6E7A9A29B}"/>
              </a:ext>
            </a:extLst>
          </p:cNvPr>
          <p:cNvSpPr>
            <a:spLocks noGrp="1"/>
          </p:cNvSpPr>
          <p:nvPr>
            <p:ph type="body" sz="half" idx="2"/>
          </p:nvPr>
        </p:nvSpPr>
        <p:spPr>
          <a:xfrm>
            <a:off x="1380120" y="3742792"/>
            <a:ext cx="3322510" cy="1590261"/>
          </a:xfrm>
        </p:spPr>
        <p:txBody>
          <a:bodyPr anchor="b">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E8FA6D7-1BE0-F14D-A2F7-4836180BC3B9}"/>
              </a:ext>
            </a:extLst>
          </p:cNvPr>
          <p:cNvSpPr>
            <a:spLocks noGrp="1"/>
          </p:cNvSpPr>
          <p:nvPr>
            <p:ph type="dt" sz="half" idx="10"/>
          </p:nvPr>
        </p:nvSpPr>
        <p:spPr/>
        <p:txBody>
          <a:bodyPr/>
          <a:lstStyle/>
          <a:p>
            <a:fld id="{E7736193-EDE3-4BB5-AE5F-E6E5472AB8BE}" type="datetimeFigureOut">
              <a:rPr lang="en-US" smtClean="0"/>
              <a:t>3/9/2024</a:t>
            </a:fld>
            <a:endParaRPr lang="en-US"/>
          </a:p>
        </p:txBody>
      </p:sp>
      <p:sp>
        <p:nvSpPr>
          <p:cNvPr id="6" name="Footer Placeholder 5">
            <a:extLst>
              <a:ext uri="{FF2B5EF4-FFF2-40B4-BE49-F238E27FC236}">
                <a16:creationId xmlns:a16="http://schemas.microsoft.com/office/drawing/2014/main" id="{0556B5AC-3F20-FDC1-D579-7C4C6B4ED0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074ACA-1D54-81FA-70B1-31AB3011B3C6}"/>
              </a:ext>
            </a:extLst>
          </p:cNvPr>
          <p:cNvSpPr>
            <a:spLocks noGrp="1"/>
          </p:cNvSpPr>
          <p:nvPr>
            <p:ph type="sldNum" sz="quarter" idx="12"/>
          </p:nvPr>
        </p:nvSpPr>
        <p:spPr/>
        <p:txBody>
          <a:bodyPr/>
          <a:lstStyle/>
          <a:p>
            <a:fld id="{1CC2C9B9-B4B7-45CC-A7EB-16F8BADE9045}" type="slidenum">
              <a:rPr lang="en-US" smtClean="0"/>
              <a:t>‹#›</a:t>
            </a:fld>
            <a:endParaRPr lang="en-US"/>
          </a:p>
        </p:txBody>
      </p:sp>
      <p:sp>
        <p:nvSpPr>
          <p:cNvPr id="9" name="Rectangle 8">
            <a:extLst>
              <a:ext uri="{FF2B5EF4-FFF2-40B4-BE49-F238E27FC236}">
                <a16:creationId xmlns:a16="http://schemas.microsoft.com/office/drawing/2014/main" id="{4DD8EE65-D4F9-418A-1628-F5DFD3DBA24E}"/>
              </a:ext>
              <a:ext uri="{C183D7F6-B498-43B3-948B-1728B52AA6E4}">
                <adec:decorative xmlns:adec="http://schemas.microsoft.com/office/drawing/2017/decorative" val="1"/>
              </a:ext>
            </a:extLst>
          </p:cNvPr>
          <p:cNvSpPr/>
          <p:nvPr/>
        </p:nvSpPr>
        <p:spPr>
          <a:xfrm>
            <a:off x="933198" y="931857"/>
            <a:ext cx="4305523"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0227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2C3AB-851A-0D2F-B3AE-5B161CFFC00A}"/>
              </a:ext>
            </a:extLst>
          </p:cNvPr>
          <p:cNvSpPr>
            <a:spLocks noGrp="1"/>
          </p:cNvSpPr>
          <p:nvPr>
            <p:ph type="title"/>
          </p:nvPr>
        </p:nvSpPr>
        <p:spPr>
          <a:xfrm>
            <a:off x="1624338" y="1255172"/>
            <a:ext cx="9297346" cy="1050707"/>
          </a:xfrm>
        </p:spPr>
        <p:txBody>
          <a:bodyPr anchor="b"/>
          <a:lstStyle/>
          <a:p>
            <a:r>
              <a:rPr lang="en-US" dirty="0"/>
              <a:t>Click to edit Master title style</a:t>
            </a:r>
          </a:p>
        </p:txBody>
      </p:sp>
      <p:sp>
        <p:nvSpPr>
          <p:cNvPr id="3" name="Vertical Text Placeholder 2">
            <a:extLst>
              <a:ext uri="{FF2B5EF4-FFF2-40B4-BE49-F238E27FC236}">
                <a16:creationId xmlns:a16="http://schemas.microsoft.com/office/drawing/2014/main" id="{0E89FD6B-3621-3904-7878-A2825C692509}"/>
              </a:ext>
            </a:extLst>
          </p:cNvPr>
          <p:cNvSpPr>
            <a:spLocks noGrp="1"/>
          </p:cNvSpPr>
          <p:nvPr>
            <p:ph type="body" orient="vert" idx="1"/>
          </p:nvPr>
        </p:nvSpPr>
        <p:spPr>
          <a:xfrm>
            <a:off x="1624338" y="2419468"/>
            <a:ext cx="9297346" cy="32543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9808AE9-D8ED-ED5D-D7B0-A43811777E81}"/>
              </a:ext>
            </a:extLst>
          </p:cNvPr>
          <p:cNvSpPr>
            <a:spLocks noGrp="1"/>
          </p:cNvSpPr>
          <p:nvPr>
            <p:ph type="dt" sz="half" idx="10"/>
          </p:nvPr>
        </p:nvSpPr>
        <p:spPr/>
        <p:txBody>
          <a:bodyPr/>
          <a:lstStyle/>
          <a:p>
            <a:fld id="{E7736193-EDE3-4BB5-AE5F-E6E5472AB8BE}" type="datetimeFigureOut">
              <a:rPr lang="en-US" smtClean="0"/>
              <a:t>3/9/2024</a:t>
            </a:fld>
            <a:endParaRPr lang="en-US"/>
          </a:p>
        </p:txBody>
      </p:sp>
      <p:sp>
        <p:nvSpPr>
          <p:cNvPr id="5" name="Footer Placeholder 4">
            <a:extLst>
              <a:ext uri="{FF2B5EF4-FFF2-40B4-BE49-F238E27FC236}">
                <a16:creationId xmlns:a16="http://schemas.microsoft.com/office/drawing/2014/main" id="{9A9EF98B-AC81-D122-3D05-9C4E2FE423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9FB543-B138-6627-3714-12105D172AD5}"/>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875658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3DE16D-F1A0-DDB5-A98C-A9055C93D914}"/>
              </a:ext>
            </a:extLst>
          </p:cNvPr>
          <p:cNvSpPr>
            <a:spLocks noGrp="1"/>
          </p:cNvSpPr>
          <p:nvPr>
            <p:ph type="title" orient="vert"/>
          </p:nvPr>
        </p:nvSpPr>
        <p:spPr>
          <a:xfrm>
            <a:off x="9126961" y="1414196"/>
            <a:ext cx="1817441" cy="4100602"/>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2D8A548F-8DA7-C53C-1BFE-7C720CB20FA1}"/>
              </a:ext>
            </a:extLst>
          </p:cNvPr>
          <p:cNvSpPr>
            <a:spLocks noGrp="1"/>
          </p:cNvSpPr>
          <p:nvPr>
            <p:ph type="body" orient="vert" idx="1"/>
          </p:nvPr>
        </p:nvSpPr>
        <p:spPr>
          <a:xfrm>
            <a:off x="1346042" y="1414196"/>
            <a:ext cx="7780919" cy="4100602"/>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12EA2C8-1C90-25D0-8B0A-30B73CFD3EDE}"/>
              </a:ext>
            </a:extLst>
          </p:cNvPr>
          <p:cNvSpPr>
            <a:spLocks noGrp="1"/>
          </p:cNvSpPr>
          <p:nvPr>
            <p:ph type="dt" sz="half" idx="10"/>
          </p:nvPr>
        </p:nvSpPr>
        <p:spPr/>
        <p:txBody>
          <a:bodyPr/>
          <a:lstStyle/>
          <a:p>
            <a:fld id="{E7736193-EDE3-4BB5-AE5F-E6E5472AB8BE}" type="datetimeFigureOut">
              <a:rPr lang="en-US" smtClean="0"/>
              <a:t>3/9/2024</a:t>
            </a:fld>
            <a:endParaRPr lang="en-US"/>
          </a:p>
        </p:txBody>
      </p:sp>
      <p:sp>
        <p:nvSpPr>
          <p:cNvPr id="5" name="Footer Placeholder 4">
            <a:extLst>
              <a:ext uri="{FF2B5EF4-FFF2-40B4-BE49-F238E27FC236}">
                <a16:creationId xmlns:a16="http://schemas.microsoft.com/office/drawing/2014/main" id="{EA6FF1A4-0404-DA2D-1EA4-828091C0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457155-0F4A-F7B7-C4A8-755572E98C2E}"/>
              </a:ext>
            </a:extLst>
          </p:cNvPr>
          <p:cNvSpPr>
            <a:spLocks noGrp="1"/>
          </p:cNvSpPr>
          <p:nvPr>
            <p:ph type="sldNum" sz="quarter" idx="12"/>
          </p:nvPr>
        </p:nvSpPr>
        <p:spPr/>
        <p:txBody>
          <a:bodyPr/>
          <a:lstStyle/>
          <a:p>
            <a:fld id="{1CC2C9B9-B4B7-45CC-A7EB-16F8BADE9045}" type="slidenum">
              <a:rPr lang="en-US" smtClean="0"/>
              <a:t>‹#›</a:t>
            </a:fld>
            <a:endParaRPr lang="en-US"/>
          </a:p>
        </p:txBody>
      </p:sp>
    </p:spTree>
    <p:extLst>
      <p:ext uri="{BB962C8B-B14F-4D97-AF65-F5344CB8AC3E}">
        <p14:creationId xmlns:p14="http://schemas.microsoft.com/office/powerpoint/2010/main" val="2185218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792104-6F24-CD50-F55E-22A55084DDC9}"/>
              </a:ext>
            </a:extLst>
          </p:cNvPr>
          <p:cNvSpPr>
            <a:spLocks noGrp="1"/>
          </p:cNvSpPr>
          <p:nvPr>
            <p:ph type="title"/>
          </p:nvPr>
        </p:nvSpPr>
        <p:spPr>
          <a:xfrm>
            <a:off x="1620442" y="1233199"/>
            <a:ext cx="8977511" cy="1073825"/>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2D1059CB-D00E-398D-E4D9-59792FC40A4C}"/>
              </a:ext>
            </a:extLst>
          </p:cNvPr>
          <p:cNvSpPr>
            <a:spLocks noGrp="1"/>
          </p:cNvSpPr>
          <p:nvPr>
            <p:ph type="body" idx="1"/>
          </p:nvPr>
        </p:nvSpPr>
        <p:spPr>
          <a:xfrm>
            <a:off x="1620444" y="2419639"/>
            <a:ext cx="8977509" cy="314178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F8DFBC38-D897-7CBE-AC89-A95A2222D7C8}"/>
              </a:ext>
            </a:extLst>
          </p:cNvPr>
          <p:cNvSpPr>
            <a:spLocks noGrp="1"/>
          </p:cNvSpPr>
          <p:nvPr>
            <p:ph type="dt" sz="half" idx="2"/>
          </p:nvPr>
        </p:nvSpPr>
        <p:spPr>
          <a:xfrm>
            <a:off x="847726" y="6199188"/>
            <a:ext cx="2743200" cy="365125"/>
          </a:xfrm>
          <a:prstGeom prst="rect">
            <a:avLst/>
          </a:prstGeom>
        </p:spPr>
        <p:txBody>
          <a:bodyPr vert="horz" lIns="91440" tIns="45720" rIns="91440" bIns="45720" rtlCol="0" anchor="ctr"/>
          <a:lstStyle>
            <a:lvl1pPr algn="l">
              <a:defRPr sz="1050">
                <a:solidFill>
                  <a:schemeClr val="tx1"/>
                </a:solidFill>
                <a:latin typeface="+mn-lt"/>
              </a:defRPr>
            </a:lvl1pPr>
          </a:lstStyle>
          <a:p>
            <a:fld id="{E7736193-EDE3-4BB5-AE5F-E6E5472AB8BE}" type="datetimeFigureOut">
              <a:rPr lang="en-US" smtClean="0"/>
              <a:t>3/9/2024</a:t>
            </a:fld>
            <a:endParaRPr lang="en-US"/>
          </a:p>
        </p:txBody>
      </p:sp>
      <p:sp>
        <p:nvSpPr>
          <p:cNvPr id="5" name="Footer Placeholder 4">
            <a:extLst>
              <a:ext uri="{FF2B5EF4-FFF2-40B4-BE49-F238E27FC236}">
                <a16:creationId xmlns:a16="http://schemas.microsoft.com/office/drawing/2014/main" id="{E6728008-2A03-D518-4A75-30816EB0D198}"/>
              </a:ext>
            </a:extLst>
          </p:cNvPr>
          <p:cNvSpPr>
            <a:spLocks noGrp="1"/>
          </p:cNvSpPr>
          <p:nvPr>
            <p:ph type="ftr" sz="quarter" idx="3"/>
          </p:nvPr>
        </p:nvSpPr>
        <p:spPr>
          <a:xfrm>
            <a:off x="7286625" y="6199188"/>
            <a:ext cx="3409951" cy="365125"/>
          </a:xfrm>
          <a:prstGeom prst="rect">
            <a:avLst/>
          </a:prstGeom>
        </p:spPr>
        <p:txBody>
          <a:bodyPr vert="horz" lIns="91440" tIns="45720" rIns="91440" bIns="45720" rtlCol="0" anchor="ctr"/>
          <a:lstStyle>
            <a:lvl1pPr algn="r">
              <a:defRPr sz="1050">
                <a:solidFill>
                  <a:schemeClr val="tx1"/>
                </a:solidFill>
                <a:latin typeface="+mn-lt"/>
              </a:defRPr>
            </a:lvl1pPr>
          </a:lstStyle>
          <a:p>
            <a:endParaRPr lang="en-US"/>
          </a:p>
        </p:txBody>
      </p:sp>
      <p:sp>
        <p:nvSpPr>
          <p:cNvPr id="6" name="Slide Number Placeholder 5">
            <a:extLst>
              <a:ext uri="{FF2B5EF4-FFF2-40B4-BE49-F238E27FC236}">
                <a16:creationId xmlns:a16="http://schemas.microsoft.com/office/drawing/2014/main" id="{F3691D49-2BD8-1C36-B43A-CF2F9177769B}"/>
              </a:ext>
            </a:extLst>
          </p:cNvPr>
          <p:cNvSpPr>
            <a:spLocks noGrp="1"/>
          </p:cNvSpPr>
          <p:nvPr>
            <p:ph type="sldNum" sz="quarter" idx="4"/>
          </p:nvPr>
        </p:nvSpPr>
        <p:spPr>
          <a:xfrm>
            <a:off x="10696577" y="6199188"/>
            <a:ext cx="619125" cy="365125"/>
          </a:xfrm>
          <a:prstGeom prst="rect">
            <a:avLst/>
          </a:prstGeom>
        </p:spPr>
        <p:txBody>
          <a:bodyPr vert="horz" lIns="91440" tIns="45720" rIns="91440" bIns="45720" rtlCol="0" anchor="ctr"/>
          <a:lstStyle>
            <a:lvl1pPr algn="r">
              <a:defRPr sz="1050">
                <a:solidFill>
                  <a:schemeClr val="tx1"/>
                </a:solidFill>
                <a:latin typeface="+mn-lt"/>
              </a:defRPr>
            </a:lvl1pPr>
          </a:lstStyle>
          <a:p>
            <a:fld id="{1CC2C9B9-B4B7-45CC-A7EB-16F8BADE9045}" type="slidenum">
              <a:rPr lang="en-US" smtClean="0"/>
              <a:t>‹#›</a:t>
            </a:fld>
            <a:endParaRPr lang="en-US"/>
          </a:p>
        </p:txBody>
      </p:sp>
      <p:sp>
        <p:nvSpPr>
          <p:cNvPr id="8" name="Rectangle 7">
            <a:extLst>
              <a:ext uri="{FF2B5EF4-FFF2-40B4-BE49-F238E27FC236}">
                <a16:creationId xmlns:a16="http://schemas.microsoft.com/office/drawing/2014/main" id="{5BE2A49E-0BD9-321C-F602-AFA2FCF9B27B}"/>
              </a:ext>
              <a:ext uri="{C183D7F6-B498-43B3-948B-1728B52AA6E4}">
                <adec:decorative xmlns:adec="http://schemas.microsoft.com/office/drawing/2017/decorative" val="1"/>
              </a:ext>
            </a:extLst>
          </p:cNvPr>
          <p:cNvSpPr/>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230000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1" r:id="rId6"/>
    <p:sldLayoutId id="2147483727" r:id="rId7"/>
    <p:sldLayoutId id="2147483728" r:id="rId8"/>
    <p:sldLayoutId id="2147483729" r:id="rId9"/>
    <p:sldLayoutId id="2147483730" r:id="rId10"/>
    <p:sldLayoutId id="2147483732" r:id="rId11"/>
  </p:sldLayoutIdLst>
  <p:txStyles>
    <p:titleStyle>
      <a:lvl1pPr algn="l" defTabSz="914400" rtl="0" eaLnBrk="1" latinLnBrk="0" hangingPunct="1">
        <a:lnSpc>
          <a:spcPct val="120000"/>
        </a:lnSpc>
        <a:spcBef>
          <a:spcPct val="0"/>
        </a:spcBef>
        <a:buNone/>
        <a:defRPr sz="2800" b="1" kern="1200" cap="all" spc="5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6" Type="http://schemas.openxmlformats.org/officeDocument/2006/relationships/hyperlink" Target="https://thepihut.com/" TargetMode="External"/><Relationship Id="rId5" Type="http://schemas.openxmlformats.org/officeDocument/2006/relationships/image" Target="../media/image14.png"/><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hyperlink" Target="https://www.pngitem.com/middle/iRhmmTh_fallout-pip-boy-png-png-download-raspberry-pi/" TargetMode="External"/><Relationship Id="rId2" Type="http://schemas.openxmlformats.org/officeDocument/2006/relationships/hyperlink" Target="https://fallout.bethesda.net/en/games/fallout-3" TargetMode="External"/><Relationship Id="rId1" Type="http://schemas.openxmlformats.org/officeDocument/2006/relationships/slideLayout" Target="../slideLayouts/slideLayout2.xml"/><Relationship Id="rId4" Type="http://schemas.openxmlformats.org/officeDocument/2006/relationships/hyperlink" Target="https://www.flickr.com/photos/28221085@N03/432818908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0E45B9B-5690-F156-E2ED-D88478B76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7081EE3-B6BE-9584-F5AF-E5F6484DA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Neon 3D circle art">
            <a:extLst>
              <a:ext uri="{FF2B5EF4-FFF2-40B4-BE49-F238E27FC236}">
                <a16:creationId xmlns:a16="http://schemas.microsoft.com/office/drawing/2014/main" id="{90CC4736-15C7-AC2C-51D4-58D6891706A8}"/>
              </a:ext>
            </a:extLst>
          </p:cNvPr>
          <p:cNvPicPr>
            <a:picLocks noChangeAspect="1"/>
          </p:cNvPicPr>
          <p:nvPr/>
        </p:nvPicPr>
        <p:blipFill rotWithShape="1">
          <a:blip r:embed="rId2">
            <a:alphaModFix amt="50000"/>
          </a:blip>
          <a:srcRect t="21329"/>
          <a:stretch/>
        </p:blipFill>
        <p:spPr>
          <a:xfrm>
            <a:off x="1" y="10"/>
            <a:ext cx="12191998" cy="6857990"/>
          </a:xfrm>
          <a:prstGeom prst="rect">
            <a:avLst/>
          </a:prstGeom>
        </p:spPr>
      </p:pic>
      <p:sp>
        <p:nvSpPr>
          <p:cNvPr id="2" name="Title 1">
            <a:extLst>
              <a:ext uri="{FF2B5EF4-FFF2-40B4-BE49-F238E27FC236}">
                <a16:creationId xmlns:a16="http://schemas.microsoft.com/office/drawing/2014/main" id="{433D1B76-79E6-8395-914F-92E69E9E48A3}"/>
              </a:ext>
            </a:extLst>
          </p:cNvPr>
          <p:cNvSpPr>
            <a:spLocks noGrp="1"/>
          </p:cNvSpPr>
          <p:nvPr>
            <p:ph type="ctrTitle"/>
          </p:nvPr>
        </p:nvSpPr>
        <p:spPr>
          <a:xfrm>
            <a:off x="3432964" y="1864634"/>
            <a:ext cx="5324728" cy="1564366"/>
          </a:xfrm>
          <a:noFill/>
        </p:spPr>
        <p:txBody>
          <a:bodyPr anchor="b">
            <a:normAutofit fontScale="90000"/>
          </a:bodyPr>
          <a:lstStyle/>
          <a:p>
            <a:pPr algn="ctr"/>
            <a:r>
              <a:rPr lang="en-GB" dirty="0">
                <a:solidFill>
                  <a:schemeClr val="accent1">
                    <a:lumMod val="60000"/>
                    <a:lumOff val="40000"/>
                  </a:schemeClr>
                </a:solidFill>
              </a:rPr>
              <a:t>Design &amp; Development of Wrist Mounted Smart Device</a:t>
            </a:r>
          </a:p>
        </p:txBody>
      </p:sp>
      <p:sp>
        <p:nvSpPr>
          <p:cNvPr id="18" name="Freeform: Shape 17">
            <a:extLst>
              <a:ext uri="{FF2B5EF4-FFF2-40B4-BE49-F238E27FC236}">
                <a16:creationId xmlns:a16="http://schemas.microsoft.com/office/drawing/2014/main" id="{41A03FE5-7938-1573-2D18-E168CC7C0A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3198" y="931856"/>
            <a:ext cx="10324260" cy="4994960"/>
          </a:xfrm>
          <a:custGeom>
            <a:avLst/>
            <a:gdLst>
              <a:gd name="connsiteX0" fmla="*/ 0 w 9985794"/>
              <a:gd name="connsiteY0" fmla="*/ 0 h 4920343"/>
              <a:gd name="connsiteX1" fmla="*/ 9985794 w 9985794"/>
              <a:gd name="connsiteY1" fmla="*/ 0 h 4920343"/>
              <a:gd name="connsiteX2" fmla="*/ 9985794 w 9985794"/>
              <a:gd name="connsiteY2" fmla="*/ 4920343 h 4920343"/>
              <a:gd name="connsiteX3" fmla="*/ 0 w 9985794"/>
              <a:gd name="connsiteY3" fmla="*/ 4920343 h 4920343"/>
              <a:gd name="connsiteX4" fmla="*/ 0 w 9985794"/>
              <a:gd name="connsiteY4" fmla="*/ 4119525 h 4920343"/>
              <a:gd name="connsiteX5" fmla="*/ 4905554 w 9985794"/>
              <a:gd name="connsiteY5" fmla="*/ 4119525 h 4920343"/>
              <a:gd name="connsiteX6" fmla="*/ 4905554 w 9985794"/>
              <a:gd name="connsiteY6" fmla="*/ 1451087 h 4920343"/>
              <a:gd name="connsiteX7" fmla="*/ 0 w 9985794"/>
              <a:gd name="connsiteY7" fmla="*/ 1451087 h 4920343"/>
              <a:gd name="connsiteX0" fmla="*/ 4905554 w 9985794"/>
              <a:gd name="connsiteY0" fmla="*/ 4119525 h 4920343"/>
              <a:gd name="connsiteX1" fmla="*/ 4905554 w 9985794"/>
              <a:gd name="connsiteY1" fmla="*/ 1451087 h 4920343"/>
              <a:gd name="connsiteX2" fmla="*/ 0 w 9985794"/>
              <a:gd name="connsiteY2" fmla="*/ 1451087 h 4920343"/>
              <a:gd name="connsiteX3" fmla="*/ 0 w 9985794"/>
              <a:gd name="connsiteY3" fmla="*/ 0 h 4920343"/>
              <a:gd name="connsiteX4" fmla="*/ 9985794 w 9985794"/>
              <a:gd name="connsiteY4" fmla="*/ 0 h 4920343"/>
              <a:gd name="connsiteX5" fmla="*/ 9985794 w 9985794"/>
              <a:gd name="connsiteY5" fmla="*/ 4920343 h 4920343"/>
              <a:gd name="connsiteX6" fmla="*/ 0 w 9985794"/>
              <a:gd name="connsiteY6" fmla="*/ 4920343 h 4920343"/>
              <a:gd name="connsiteX7" fmla="*/ 0 w 9985794"/>
              <a:gd name="connsiteY7" fmla="*/ 4119525 h 4920343"/>
              <a:gd name="connsiteX8" fmla="*/ 4996994 w 9985794"/>
              <a:gd name="connsiteY8" fmla="*/ 4210965 h 4920343"/>
              <a:gd name="connsiteX0" fmla="*/ 4905554 w 9985794"/>
              <a:gd name="connsiteY0" fmla="*/ 4119525 h 4920343"/>
              <a:gd name="connsiteX1" fmla="*/ 4905554 w 9985794"/>
              <a:gd name="connsiteY1" fmla="*/ 1451087 h 4920343"/>
              <a:gd name="connsiteX2" fmla="*/ 0 w 9985794"/>
              <a:gd name="connsiteY2" fmla="*/ 1451087 h 4920343"/>
              <a:gd name="connsiteX3" fmla="*/ 0 w 9985794"/>
              <a:gd name="connsiteY3" fmla="*/ 0 h 4920343"/>
              <a:gd name="connsiteX4" fmla="*/ 9985794 w 9985794"/>
              <a:gd name="connsiteY4" fmla="*/ 0 h 4920343"/>
              <a:gd name="connsiteX5" fmla="*/ 9985794 w 9985794"/>
              <a:gd name="connsiteY5" fmla="*/ 4920343 h 4920343"/>
              <a:gd name="connsiteX6" fmla="*/ 0 w 9985794"/>
              <a:gd name="connsiteY6" fmla="*/ 4920343 h 4920343"/>
              <a:gd name="connsiteX7" fmla="*/ 0 w 9985794"/>
              <a:gd name="connsiteY7" fmla="*/ 4119525 h 4920343"/>
              <a:gd name="connsiteX0" fmla="*/ 4905554 w 9985794"/>
              <a:gd name="connsiteY0" fmla="*/ 1451087 h 4920343"/>
              <a:gd name="connsiteX1" fmla="*/ 0 w 9985794"/>
              <a:gd name="connsiteY1" fmla="*/ 1451087 h 4920343"/>
              <a:gd name="connsiteX2" fmla="*/ 0 w 9985794"/>
              <a:gd name="connsiteY2" fmla="*/ 0 h 4920343"/>
              <a:gd name="connsiteX3" fmla="*/ 9985794 w 9985794"/>
              <a:gd name="connsiteY3" fmla="*/ 0 h 4920343"/>
              <a:gd name="connsiteX4" fmla="*/ 9985794 w 9985794"/>
              <a:gd name="connsiteY4" fmla="*/ 4920343 h 4920343"/>
              <a:gd name="connsiteX5" fmla="*/ 0 w 9985794"/>
              <a:gd name="connsiteY5" fmla="*/ 4920343 h 4920343"/>
              <a:gd name="connsiteX6" fmla="*/ 0 w 9985794"/>
              <a:gd name="connsiteY6" fmla="*/ 4119525 h 4920343"/>
              <a:gd name="connsiteX0" fmla="*/ 0 w 9985794"/>
              <a:gd name="connsiteY0" fmla="*/ 1451087 h 4920343"/>
              <a:gd name="connsiteX1" fmla="*/ 0 w 9985794"/>
              <a:gd name="connsiteY1" fmla="*/ 0 h 4920343"/>
              <a:gd name="connsiteX2" fmla="*/ 9985794 w 9985794"/>
              <a:gd name="connsiteY2" fmla="*/ 0 h 4920343"/>
              <a:gd name="connsiteX3" fmla="*/ 9985794 w 9985794"/>
              <a:gd name="connsiteY3" fmla="*/ 4920343 h 4920343"/>
              <a:gd name="connsiteX4" fmla="*/ 0 w 9985794"/>
              <a:gd name="connsiteY4" fmla="*/ 4920343 h 4920343"/>
              <a:gd name="connsiteX5" fmla="*/ 0 w 9985794"/>
              <a:gd name="connsiteY5" fmla="*/ 4119525 h 4920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985794" h="4920343">
                <a:moveTo>
                  <a:pt x="0" y="1451087"/>
                </a:moveTo>
                <a:lnTo>
                  <a:pt x="0" y="0"/>
                </a:lnTo>
                <a:lnTo>
                  <a:pt x="9985794" y="0"/>
                </a:lnTo>
                <a:lnTo>
                  <a:pt x="9985794" y="4920343"/>
                </a:lnTo>
                <a:lnTo>
                  <a:pt x="0" y="4920343"/>
                </a:lnTo>
                <a:lnTo>
                  <a:pt x="0" y="4119525"/>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Subtitle 2">
            <a:extLst>
              <a:ext uri="{FF2B5EF4-FFF2-40B4-BE49-F238E27FC236}">
                <a16:creationId xmlns:a16="http://schemas.microsoft.com/office/drawing/2014/main" id="{C908ADBD-5A12-B5FE-61A0-B2F9EA75A2BD}"/>
              </a:ext>
            </a:extLst>
          </p:cNvPr>
          <p:cNvSpPr txBox="1">
            <a:spLocks/>
          </p:cNvSpPr>
          <p:nvPr/>
        </p:nvSpPr>
        <p:spPr>
          <a:xfrm>
            <a:off x="673814" y="5470722"/>
            <a:ext cx="4271592" cy="891978"/>
          </a:xfrm>
          <a:prstGeom prst="rect">
            <a:avLst/>
          </a:prstGeom>
          <a:noFill/>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GB" dirty="0">
                <a:solidFill>
                  <a:schemeClr val="accent1">
                    <a:lumMod val="60000"/>
                    <a:lumOff val="40000"/>
                  </a:schemeClr>
                </a:solidFill>
              </a:rPr>
              <a:t>Final Year Project – CHP2524-2324</a:t>
            </a:r>
          </a:p>
          <a:p>
            <a:pPr algn="ctr"/>
            <a:r>
              <a:rPr lang="en-GB" dirty="0">
                <a:solidFill>
                  <a:schemeClr val="accent1">
                    <a:lumMod val="60000"/>
                    <a:lumOff val="40000"/>
                  </a:schemeClr>
                </a:solidFill>
              </a:rPr>
              <a:t>Oliver Lewis: U1961638</a:t>
            </a:r>
          </a:p>
        </p:txBody>
      </p:sp>
      <p:sp>
        <p:nvSpPr>
          <p:cNvPr id="10" name="Subtitle 2">
            <a:extLst>
              <a:ext uri="{FF2B5EF4-FFF2-40B4-BE49-F238E27FC236}">
                <a16:creationId xmlns:a16="http://schemas.microsoft.com/office/drawing/2014/main" id="{591F7435-4E59-EE4C-B4F9-956783112240}"/>
              </a:ext>
            </a:extLst>
          </p:cNvPr>
          <p:cNvSpPr txBox="1">
            <a:spLocks/>
          </p:cNvSpPr>
          <p:nvPr/>
        </p:nvSpPr>
        <p:spPr>
          <a:xfrm>
            <a:off x="8387678" y="5375472"/>
            <a:ext cx="4271592" cy="891978"/>
          </a:xfrm>
          <a:prstGeom prst="rect">
            <a:avLst/>
          </a:prstGeom>
          <a:noFill/>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GB" dirty="0">
                <a:solidFill>
                  <a:schemeClr val="accent1">
                    <a:lumMod val="60000"/>
                    <a:lumOff val="40000"/>
                  </a:schemeClr>
                </a:solidFill>
              </a:rPr>
              <a:t>30/01/2024</a:t>
            </a:r>
          </a:p>
        </p:txBody>
      </p:sp>
    </p:spTree>
    <p:extLst>
      <p:ext uri="{BB962C8B-B14F-4D97-AF65-F5344CB8AC3E}">
        <p14:creationId xmlns:p14="http://schemas.microsoft.com/office/powerpoint/2010/main" val="3830209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BE2A49E-0BD9-321C-F602-AFA2FCF9B2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A7E26772-EAFC-10BB-4659-99BF2A8A15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4AEFA6A-E623-CF1A-3DDF-C38D3A7E2C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5884" y="934542"/>
            <a:ext cx="10321575" cy="499093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6A771C-13FB-B550-55BC-F50B89015F64}"/>
              </a:ext>
            </a:extLst>
          </p:cNvPr>
          <p:cNvSpPr>
            <a:spLocks noGrp="1"/>
          </p:cNvSpPr>
          <p:nvPr>
            <p:ph type="title"/>
          </p:nvPr>
        </p:nvSpPr>
        <p:spPr>
          <a:xfrm>
            <a:off x="933198" y="258793"/>
            <a:ext cx="4648199" cy="577970"/>
          </a:xfrm>
        </p:spPr>
        <p:txBody>
          <a:bodyPr vert="horz" lIns="91440" tIns="45720" rIns="91440" bIns="45720" rtlCol="0" anchor="b">
            <a:normAutofit fontScale="90000"/>
          </a:bodyPr>
          <a:lstStyle/>
          <a:p>
            <a:r>
              <a:rPr lang="en-US" sz="3200" spc="530" dirty="0"/>
              <a:t>Introduction</a:t>
            </a:r>
          </a:p>
        </p:txBody>
      </p:sp>
      <p:pic>
        <p:nvPicPr>
          <p:cNvPr id="7" name="Graphic 6" descr="Books">
            <a:extLst>
              <a:ext uri="{FF2B5EF4-FFF2-40B4-BE49-F238E27FC236}">
                <a16:creationId xmlns:a16="http://schemas.microsoft.com/office/drawing/2014/main" id="{8430465F-BFAC-EC2B-4014-DF45F5E872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90797" y="1732836"/>
            <a:ext cx="3476820" cy="3476820"/>
          </a:xfrm>
          <a:prstGeom prst="rect">
            <a:avLst/>
          </a:prstGeom>
        </p:spPr>
      </p:pic>
    </p:spTree>
    <p:extLst>
      <p:ext uri="{BB962C8B-B14F-4D97-AF65-F5344CB8AC3E}">
        <p14:creationId xmlns:p14="http://schemas.microsoft.com/office/powerpoint/2010/main" val="345119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BE2A49E-0BD9-321C-F602-AFA2FCF9B2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9" name="Rectangle 18">
            <a:extLst>
              <a:ext uri="{FF2B5EF4-FFF2-40B4-BE49-F238E27FC236}">
                <a16:creationId xmlns:a16="http://schemas.microsoft.com/office/drawing/2014/main" id="{812CB9FF-7D0E-C6EE-FD1E-5414C1C2FE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bstract purple background">
            <a:extLst>
              <a:ext uri="{FF2B5EF4-FFF2-40B4-BE49-F238E27FC236}">
                <a16:creationId xmlns:a16="http://schemas.microsoft.com/office/drawing/2014/main" id="{0EC126C2-34F7-416C-00F6-8E4425051AB2}"/>
              </a:ext>
            </a:extLst>
          </p:cNvPr>
          <p:cNvPicPr>
            <a:picLocks noGrp="1" noChangeAspect="1"/>
          </p:cNvPicPr>
          <p:nvPr>
            <p:ph idx="1"/>
          </p:nvPr>
        </p:nvPicPr>
        <p:blipFill rotWithShape="1">
          <a:blip r:embed="rId2">
            <a:alphaModFix/>
            <a:extLst>
              <a:ext uri="{28A0092B-C50C-407E-A947-70E740481C1C}">
                <a14:useLocalDpi xmlns:a14="http://schemas.microsoft.com/office/drawing/2010/main" val="0"/>
              </a:ext>
            </a:extLst>
          </a:blip>
          <a:srcRect t="14573" b="1158"/>
          <a:stretch/>
        </p:blipFill>
        <p:spPr>
          <a:xfrm>
            <a:off x="20" y="10"/>
            <a:ext cx="12191980" cy="6857989"/>
          </a:xfrm>
          <a:prstGeom prst="rect">
            <a:avLst/>
          </a:prstGeom>
        </p:spPr>
      </p:pic>
      <p:sp>
        <p:nvSpPr>
          <p:cNvPr id="21" name="Rectangle 20">
            <a:extLst>
              <a:ext uri="{FF2B5EF4-FFF2-40B4-BE49-F238E27FC236}">
                <a16:creationId xmlns:a16="http://schemas.microsoft.com/office/drawing/2014/main" id="{9D116A30-2A9E-3B9D-13D5-D633F2105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030" y="4727954"/>
            <a:ext cx="12192001" cy="2128934"/>
          </a:xfrm>
          <a:prstGeom prst="rect">
            <a:avLst/>
          </a:prstGeom>
          <a:gradFill flip="none" rotWithShape="1">
            <a:gsLst>
              <a:gs pos="0">
                <a:srgbClr val="000000">
                  <a:alpha val="38000"/>
                </a:srgbClr>
              </a:gs>
              <a:gs pos="100000">
                <a:srgbClr val="000000">
                  <a:alpha val="0"/>
                </a:srgbClr>
              </a:gs>
              <a:gs pos="56000">
                <a:srgbClr val="000000">
                  <a:alpha val="2000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3" name="Rectangle 22">
            <a:extLst>
              <a:ext uri="{FF2B5EF4-FFF2-40B4-BE49-F238E27FC236}">
                <a16:creationId xmlns:a16="http://schemas.microsoft.com/office/drawing/2014/main" id="{AA139E6A-94CB-3729-1976-2DCA57C2B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30" y="1112"/>
            <a:ext cx="12195029" cy="3790442"/>
          </a:xfrm>
          <a:prstGeom prst="rect">
            <a:avLst/>
          </a:prstGeom>
          <a:gradFill flip="none" rotWithShape="1">
            <a:gsLst>
              <a:gs pos="0">
                <a:srgbClr val="000000">
                  <a:alpha val="56000"/>
                </a:srgbClr>
              </a:gs>
              <a:gs pos="100000">
                <a:srgbClr val="000000">
                  <a:alpha val="0"/>
                </a:srgbClr>
              </a:gs>
              <a:gs pos="60000">
                <a:srgbClr val="000000">
                  <a:alpha val="28000"/>
                </a:srgb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Title 1">
            <a:extLst>
              <a:ext uri="{FF2B5EF4-FFF2-40B4-BE49-F238E27FC236}">
                <a16:creationId xmlns:a16="http://schemas.microsoft.com/office/drawing/2014/main" id="{DD0D1967-FEA9-9DB9-3EDB-3FFCD084DFCE}"/>
              </a:ext>
            </a:extLst>
          </p:cNvPr>
          <p:cNvSpPr txBox="1">
            <a:spLocks/>
          </p:cNvSpPr>
          <p:nvPr/>
        </p:nvSpPr>
        <p:spPr>
          <a:xfrm>
            <a:off x="781175" y="703736"/>
            <a:ext cx="4285881" cy="1225104"/>
          </a:xfrm>
          <a:prstGeom prst="rect">
            <a:avLst/>
          </a:prstGeom>
          <a:noFill/>
        </p:spPr>
        <p:txBody>
          <a:bodyPr vert="horz" lIns="91440" tIns="45720" rIns="91440" bIns="45720" rtlCol="0" anchor="t">
            <a:normAutofit/>
          </a:bodyPr>
          <a:lstStyle>
            <a:lvl1pPr algn="l" defTabSz="914400" rtl="0" eaLnBrk="1" latinLnBrk="0" hangingPunct="1">
              <a:lnSpc>
                <a:spcPct val="120000"/>
              </a:lnSpc>
              <a:spcBef>
                <a:spcPct val="0"/>
              </a:spcBef>
              <a:buNone/>
              <a:defRPr sz="2800" b="1" kern="1200" cap="all" spc="500" baseline="0">
                <a:solidFill>
                  <a:schemeClr val="tx1"/>
                </a:solidFill>
                <a:latin typeface="+mj-lt"/>
                <a:ea typeface="+mj-ea"/>
                <a:cs typeface="+mj-cs"/>
              </a:defRPr>
            </a:lvl1pPr>
          </a:lstStyle>
          <a:p>
            <a:pPr>
              <a:spcAft>
                <a:spcPts val="600"/>
              </a:spcAft>
            </a:pPr>
            <a:r>
              <a:rPr lang="en-US" sz="3200" spc="530">
                <a:solidFill>
                  <a:srgbClr val="FFFFFF"/>
                </a:solidFill>
              </a:rPr>
              <a:t>Project Timeline</a:t>
            </a:r>
          </a:p>
        </p:txBody>
      </p:sp>
      <p:sp>
        <p:nvSpPr>
          <p:cNvPr id="25" name="Freeform: Shape 24">
            <a:extLst>
              <a:ext uri="{FF2B5EF4-FFF2-40B4-BE49-F238E27FC236}">
                <a16:creationId xmlns:a16="http://schemas.microsoft.com/office/drawing/2014/main" id="{7F70A2C4-3347-EF31-F002-FB70BCCF44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08344" y="938623"/>
            <a:ext cx="10369255" cy="4987842"/>
          </a:xfrm>
          <a:custGeom>
            <a:avLst/>
            <a:gdLst>
              <a:gd name="connsiteX0" fmla="*/ 0 w 4116027"/>
              <a:gd name="connsiteY0" fmla="*/ 0 h 5058263"/>
              <a:gd name="connsiteX1" fmla="*/ 3203647 w 4116027"/>
              <a:gd name="connsiteY1" fmla="*/ 0 h 5058263"/>
              <a:gd name="connsiteX2" fmla="*/ 3203647 w 4116027"/>
              <a:gd name="connsiteY2" fmla="*/ 1439014 h 5058263"/>
              <a:gd name="connsiteX3" fmla="*/ 4116027 w 4116027"/>
              <a:gd name="connsiteY3" fmla="*/ 1439014 h 5058263"/>
              <a:gd name="connsiteX4" fmla="*/ 4116027 w 4116027"/>
              <a:gd name="connsiteY4" fmla="*/ 5058263 h 5058263"/>
              <a:gd name="connsiteX5" fmla="*/ 0 w 4116027"/>
              <a:gd name="connsiteY5" fmla="*/ 5058263 h 5058263"/>
              <a:gd name="connsiteX0" fmla="*/ 3203647 w 4116027"/>
              <a:gd name="connsiteY0" fmla="*/ 1439014 h 5058263"/>
              <a:gd name="connsiteX1" fmla="*/ 4116027 w 4116027"/>
              <a:gd name="connsiteY1" fmla="*/ 1439014 h 5058263"/>
              <a:gd name="connsiteX2" fmla="*/ 4116027 w 4116027"/>
              <a:gd name="connsiteY2" fmla="*/ 5058263 h 5058263"/>
              <a:gd name="connsiteX3" fmla="*/ 0 w 4116027"/>
              <a:gd name="connsiteY3" fmla="*/ 5058263 h 5058263"/>
              <a:gd name="connsiteX4" fmla="*/ 0 w 4116027"/>
              <a:gd name="connsiteY4" fmla="*/ 0 h 5058263"/>
              <a:gd name="connsiteX5" fmla="*/ 3203647 w 4116027"/>
              <a:gd name="connsiteY5" fmla="*/ 0 h 5058263"/>
              <a:gd name="connsiteX6" fmla="*/ 3295087 w 4116027"/>
              <a:gd name="connsiteY6" fmla="*/ 1530454 h 5058263"/>
              <a:gd name="connsiteX0" fmla="*/ 3203647 w 4116027"/>
              <a:gd name="connsiteY0" fmla="*/ 1439014 h 5058263"/>
              <a:gd name="connsiteX1" fmla="*/ 4116027 w 4116027"/>
              <a:gd name="connsiteY1" fmla="*/ 1439014 h 5058263"/>
              <a:gd name="connsiteX2" fmla="*/ 4116027 w 4116027"/>
              <a:gd name="connsiteY2" fmla="*/ 5058263 h 5058263"/>
              <a:gd name="connsiteX3" fmla="*/ 0 w 4116027"/>
              <a:gd name="connsiteY3" fmla="*/ 5058263 h 5058263"/>
              <a:gd name="connsiteX4" fmla="*/ 0 w 4116027"/>
              <a:gd name="connsiteY4" fmla="*/ 0 h 5058263"/>
              <a:gd name="connsiteX5" fmla="*/ 3203647 w 4116027"/>
              <a:gd name="connsiteY5" fmla="*/ 0 h 5058263"/>
              <a:gd name="connsiteX0" fmla="*/ 4116027 w 4116027"/>
              <a:gd name="connsiteY0" fmla="*/ 1439014 h 5058263"/>
              <a:gd name="connsiteX1" fmla="*/ 4116027 w 4116027"/>
              <a:gd name="connsiteY1" fmla="*/ 5058263 h 5058263"/>
              <a:gd name="connsiteX2" fmla="*/ 0 w 4116027"/>
              <a:gd name="connsiteY2" fmla="*/ 5058263 h 5058263"/>
              <a:gd name="connsiteX3" fmla="*/ 0 w 4116027"/>
              <a:gd name="connsiteY3" fmla="*/ 0 h 5058263"/>
              <a:gd name="connsiteX4" fmla="*/ 3203647 w 4116027"/>
              <a:gd name="connsiteY4" fmla="*/ 0 h 5058263"/>
              <a:gd name="connsiteX0" fmla="*/ 4110211 w 4116027"/>
              <a:gd name="connsiteY0" fmla="*/ 1549397 h 5058263"/>
              <a:gd name="connsiteX1" fmla="*/ 4116027 w 4116027"/>
              <a:gd name="connsiteY1" fmla="*/ 5058263 h 5058263"/>
              <a:gd name="connsiteX2" fmla="*/ 0 w 4116027"/>
              <a:gd name="connsiteY2" fmla="*/ 5058263 h 5058263"/>
              <a:gd name="connsiteX3" fmla="*/ 0 w 4116027"/>
              <a:gd name="connsiteY3" fmla="*/ 0 h 5058263"/>
              <a:gd name="connsiteX4" fmla="*/ 3203647 w 4116027"/>
              <a:gd name="connsiteY4" fmla="*/ 0 h 5058263"/>
              <a:gd name="connsiteX0" fmla="*/ 4110211 w 4116027"/>
              <a:gd name="connsiteY0" fmla="*/ 1549397 h 5058263"/>
              <a:gd name="connsiteX1" fmla="*/ 4116027 w 4116027"/>
              <a:gd name="connsiteY1" fmla="*/ 5058263 h 5058263"/>
              <a:gd name="connsiteX2" fmla="*/ 0 w 4116027"/>
              <a:gd name="connsiteY2" fmla="*/ 5058263 h 5058263"/>
              <a:gd name="connsiteX3" fmla="*/ 0 w 4116027"/>
              <a:gd name="connsiteY3" fmla="*/ 0 h 5058263"/>
              <a:gd name="connsiteX4" fmla="*/ 2858576 w 4116027"/>
              <a:gd name="connsiteY4" fmla="*/ 0 h 5058263"/>
              <a:gd name="connsiteX0" fmla="*/ 4110211 w 4116027"/>
              <a:gd name="connsiteY0" fmla="*/ 1751767 h 5058263"/>
              <a:gd name="connsiteX1" fmla="*/ 4116027 w 4116027"/>
              <a:gd name="connsiteY1" fmla="*/ 5058263 h 5058263"/>
              <a:gd name="connsiteX2" fmla="*/ 0 w 4116027"/>
              <a:gd name="connsiteY2" fmla="*/ 5058263 h 5058263"/>
              <a:gd name="connsiteX3" fmla="*/ 0 w 4116027"/>
              <a:gd name="connsiteY3" fmla="*/ 0 h 5058263"/>
              <a:gd name="connsiteX4" fmla="*/ 2858576 w 4116027"/>
              <a:gd name="connsiteY4" fmla="*/ 0 h 5058263"/>
              <a:gd name="connsiteX0" fmla="*/ 4110211 w 4116027"/>
              <a:gd name="connsiteY0" fmla="*/ 1751767 h 5058263"/>
              <a:gd name="connsiteX1" fmla="*/ 4116027 w 4116027"/>
              <a:gd name="connsiteY1" fmla="*/ 5058263 h 5058263"/>
              <a:gd name="connsiteX2" fmla="*/ 0 w 4116027"/>
              <a:gd name="connsiteY2" fmla="*/ 5058263 h 5058263"/>
              <a:gd name="connsiteX3" fmla="*/ 0 w 4116027"/>
              <a:gd name="connsiteY3" fmla="*/ 0 h 5058263"/>
              <a:gd name="connsiteX4" fmla="*/ 2556812 w 4116027"/>
              <a:gd name="connsiteY4" fmla="*/ 6142 h 5058263"/>
              <a:gd name="connsiteX0" fmla="*/ 4110211 w 4116027"/>
              <a:gd name="connsiteY0" fmla="*/ 1751767 h 5058263"/>
              <a:gd name="connsiteX1" fmla="*/ 4116027 w 4116027"/>
              <a:gd name="connsiteY1" fmla="*/ 5058263 h 5058263"/>
              <a:gd name="connsiteX2" fmla="*/ 0 w 4116027"/>
              <a:gd name="connsiteY2" fmla="*/ 5058263 h 5058263"/>
              <a:gd name="connsiteX3" fmla="*/ 0 w 4116027"/>
              <a:gd name="connsiteY3" fmla="*/ 0 h 5058263"/>
              <a:gd name="connsiteX4" fmla="*/ 2470533 w 4116027"/>
              <a:gd name="connsiteY4" fmla="*/ 1434 h 5058263"/>
              <a:gd name="connsiteX0" fmla="*/ 4109005 w 4116027"/>
              <a:gd name="connsiteY0" fmla="*/ 1610052 h 5058263"/>
              <a:gd name="connsiteX1" fmla="*/ 4116027 w 4116027"/>
              <a:gd name="connsiteY1" fmla="*/ 5058263 h 5058263"/>
              <a:gd name="connsiteX2" fmla="*/ 0 w 4116027"/>
              <a:gd name="connsiteY2" fmla="*/ 5058263 h 5058263"/>
              <a:gd name="connsiteX3" fmla="*/ 0 w 4116027"/>
              <a:gd name="connsiteY3" fmla="*/ 0 h 5058263"/>
              <a:gd name="connsiteX4" fmla="*/ 2470533 w 4116027"/>
              <a:gd name="connsiteY4" fmla="*/ 1434 h 50582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6027" h="5058263">
                <a:moveTo>
                  <a:pt x="4109005" y="1610052"/>
                </a:moveTo>
                <a:cubicBezTo>
                  <a:pt x="4110944" y="2779674"/>
                  <a:pt x="4114088" y="3888641"/>
                  <a:pt x="4116027" y="5058263"/>
                </a:cubicBezTo>
                <a:lnTo>
                  <a:pt x="0" y="5058263"/>
                </a:lnTo>
                <a:lnTo>
                  <a:pt x="0" y="0"/>
                </a:lnTo>
                <a:lnTo>
                  <a:pt x="2470533" y="1434"/>
                </a:lnTo>
              </a:path>
            </a:pathLst>
          </a:custGeom>
          <a:noFill/>
          <a:ln w="381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7">
            <a:extLst>
              <a:ext uri="{FF2B5EF4-FFF2-40B4-BE49-F238E27FC236}">
                <a16:creationId xmlns:a16="http://schemas.microsoft.com/office/drawing/2014/main" id="{F486523D-88FF-F693-10C7-B8164A91F36B}"/>
              </a:ext>
            </a:extLst>
          </p:cNvPr>
          <p:cNvSpPr/>
          <p:nvPr/>
        </p:nvSpPr>
        <p:spPr>
          <a:xfrm>
            <a:off x="162616" y="1976465"/>
            <a:ext cx="1491454" cy="1410088"/>
          </a:xfrm>
          <a:prstGeom prst="ellipse">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30</a:t>
            </a:r>
            <a:r>
              <a:rPr lang="en-GB" sz="1400" baseline="30000" dirty="0">
                <a:solidFill>
                  <a:schemeClr val="tx1"/>
                </a:solidFill>
              </a:rPr>
              <a:t>th</a:t>
            </a:r>
            <a:r>
              <a:rPr lang="en-GB" sz="1400" dirty="0">
                <a:solidFill>
                  <a:schemeClr val="tx1"/>
                </a:solidFill>
              </a:rPr>
              <a:t> April</a:t>
            </a:r>
          </a:p>
          <a:p>
            <a:pPr algn="ctr"/>
            <a:r>
              <a:rPr lang="en-GB" sz="1600" dirty="0">
                <a:solidFill>
                  <a:schemeClr val="tx1"/>
                </a:solidFill>
              </a:rPr>
              <a:t>Present Product</a:t>
            </a:r>
            <a:endParaRPr lang="en-GB" sz="1200" dirty="0">
              <a:solidFill>
                <a:schemeClr val="tx1"/>
              </a:solidFill>
            </a:endParaRPr>
          </a:p>
        </p:txBody>
      </p:sp>
      <p:sp>
        <p:nvSpPr>
          <p:cNvPr id="9" name="Rectangle: Rounded Corners 8">
            <a:extLst>
              <a:ext uri="{FF2B5EF4-FFF2-40B4-BE49-F238E27FC236}">
                <a16:creationId xmlns:a16="http://schemas.microsoft.com/office/drawing/2014/main" id="{732581BC-F36D-0B02-D74E-7C1FB924E5D6}"/>
              </a:ext>
            </a:extLst>
          </p:cNvPr>
          <p:cNvSpPr/>
          <p:nvPr/>
        </p:nvSpPr>
        <p:spPr>
          <a:xfrm>
            <a:off x="69151" y="3638550"/>
            <a:ext cx="1690499" cy="1290611"/>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Monday 29</a:t>
            </a:r>
            <a:r>
              <a:rPr lang="en-GB" sz="1600" baseline="30000" dirty="0">
                <a:solidFill>
                  <a:schemeClr val="tx1"/>
                </a:solidFill>
              </a:rPr>
              <a:t>th</a:t>
            </a:r>
            <a:r>
              <a:rPr lang="en-GB" sz="1600" dirty="0">
                <a:solidFill>
                  <a:schemeClr val="tx1"/>
                </a:solidFill>
              </a:rPr>
              <a:t> April</a:t>
            </a:r>
          </a:p>
          <a:p>
            <a:pPr algn="ctr"/>
            <a:r>
              <a:rPr lang="en-GB" sz="1600" dirty="0">
                <a:solidFill>
                  <a:schemeClr val="tx1"/>
                </a:solidFill>
              </a:rPr>
              <a:t>Final Report</a:t>
            </a:r>
          </a:p>
        </p:txBody>
      </p:sp>
      <p:sp>
        <p:nvSpPr>
          <p:cNvPr id="11" name="Rectangle: Rounded Corners 10">
            <a:extLst>
              <a:ext uri="{FF2B5EF4-FFF2-40B4-BE49-F238E27FC236}">
                <a16:creationId xmlns:a16="http://schemas.microsoft.com/office/drawing/2014/main" id="{E6226F68-E1DA-DE14-8F5C-66E79392D138}"/>
              </a:ext>
            </a:extLst>
          </p:cNvPr>
          <p:cNvSpPr/>
          <p:nvPr/>
        </p:nvSpPr>
        <p:spPr>
          <a:xfrm>
            <a:off x="4967534" y="392591"/>
            <a:ext cx="1690499" cy="1290611"/>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1</a:t>
            </a:r>
            <a:r>
              <a:rPr lang="en-GB" sz="1600" baseline="30000" dirty="0">
                <a:solidFill>
                  <a:schemeClr val="tx1"/>
                </a:solidFill>
              </a:rPr>
              <a:t>st</a:t>
            </a:r>
            <a:r>
              <a:rPr lang="en-GB" sz="1600" dirty="0">
                <a:solidFill>
                  <a:schemeClr val="tx1"/>
                </a:solidFill>
              </a:rPr>
              <a:t> February</a:t>
            </a:r>
          </a:p>
          <a:p>
            <a:pPr algn="ctr"/>
            <a:r>
              <a:rPr lang="en-GB" sz="1600" dirty="0">
                <a:solidFill>
                  <a:schemeClr val="tx1"/>
                </a:solidFill>
              </a:rPr>
              <a:t>Initial Proposal</a:t>
            </a:r>
          </a:p>
        </p:txBody>
      </p:sp>
      <p:sp>
        <p:nvSpPr>
          <p:cNvPr id="13" name="Rectangle: Rounded Corners 12">
            <a:extLst>
              <a:ext uri="{FF2B5EF4-FFF2-40B4-BE49-F238E27FC236}">
                <a16:creationId xmlns:a16="http://schemas.microsoft.com/office/drawing/2014/main" id="{FBC7CD4B-7D7C-B83B-EBC3-782EDBF6C74A}"/>
              </a:ext>
            </a:extLst>
          </p:cNvPr>
          <p:cNvSpPr/>
          <p:nvPr/>
        </p:nvSpPr>
        <p:spPr>
          <a:xfrm>
            <a:off x="10426293" y="387361"/>
            <a:ext cx="1690499" cy="1290611"/>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22</a:t>
            </a:r>
            <a:r>
              <a:rPr lang="en-GB" sz="1600" baseline="30000" dirty="0">
                <a:solidFill>
                  <a:schemeClr val="tx1"/>
                </a:solidFill>
              </a:rPr>
              <a:t>nd</a:t>
            </a:r>
            <a:r>
              <a:rPr lang="en-GB" sz="1600" dirty="0">
                <a:solidFill>
                  <a:schemeClr val="tx1"/>
                </a:solidFill>
              </a:rPr>
              <a:t> February</a:t>
            </a:r>
          </a:p>
          <a:p>
            <a:pPr algn="ctr"/>
            <a:r>
              <a:rPr lang="en-GB" sz="1600" dirty="0">
                <a:solidFill>
                  <a:schemeClr val="tx1"/>
                </a:solidFill>
              </a:rPr>
              <a:t>Literature Review</a:t>
            </a:r>
          </a:p>
        </p:txBody>
      </p:sp>
      <p:sp>
        <p:nvSpPr>
          <p:cNvPr id="14" name="Rectangle: Rounded Corners 13">
            <a:extLst>
              <a:ext uri="{FF2B5EF4-FFF2-40B4-BE49-F238E27FC236}">
                <a16:creationId xmlns:a16="http://schemas.microsoft.com/office/drawing/2014/main" id="{BB3D2D98-143B-3C8A-F359-87D94C0F5DDA}"/>
              </a:ext>
            </a:extLst>
          </p:cNvPr>
          <p:cNvSpPr/>
          <p:nvPr/>
        </p:nvSpPr>
        <p:spPr>
          <a:xfrm>
            <a:off x="10441077" y="2783694"/>
            <a:ext cx="1690499" cy="1290611"/>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30</a:t>
            </a:r>
            <a:r>
              <a:rPr lang="en-GB" sz="1600" baseline="30000" dirty="0">
                <a:solidFill>
                  <a:schemeClr val="tx1"/>
                </a:solidFill>
              </a:rPr>
              <a:t>th</a:t>
            </a:r>
            <a:r>
              <a:rPr lang="en-GB" sz="1600" dirty="0">
                <a:solidFill>
                  <a:schemeClr val="tx1"/>
                </a:solidFill>
              </a:rPr>
              <a:t> February</a:t>
            </a:r>
          </a:p>
          <a:p>
            <a:pPr algn="ctr"/>
            <a:r>
              <a:rPr lang="en-GB" sz="1600" dirty="0">
                <a:solidFill>
                  <a:schemeClr val="tx1"/>
                </a:solidFill>
              </a:rPr>
              <a:t>Literary Evaluation</a:t>
            </a:r>
          </a:p>
        </p:txBody>
      </p:sp>
      <p:sp>
        <p:nvSpPr>
          <p:cNvPr id="15" name="Rectangle: Rounded Corners 14">
            <a:extLst>
              <a:ext uri="{FF2B5EF4-FFF2-40B4-BE49-F238E27FC236}">
                <a16:creationId xmlns:a16="http://schemas.microsoft.com/office/drawing/2014/main" id="{BEC61FCA-4702-D6C8-556E-F877A8DAC54C}"/>
              </a:ext>
            </a:extLst>
          </p:cNvPr>
          <p:cNvSpPr/>
          <p:nvPr/>
        </p:nvSpPr>
        <p:spPr>
          <a:xfrm>
            <a:off x="116998" y="5278400"/>
            <a:ext cx="1690499" cy="1290611"/>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Monday 20</a:t>
            </a:r>
            <a:r>
              <a:rPr lang="en-GB" sz="1600" baseline="30000" dirty="0">
                <a:solidFill>
                  <a:schemeClr val="tx1"/>
                </a:solidFill>
              </a:rPr>
              <a:t>th</a:t>
            </a:r>
            <a:r>
              <a:rPr lang="en-GB" sz="1600" dirty="0">
                <a:solidFill>
                  <a:schemeClr val="tx1"/>
                </a:solidFill>
              </a:rPr>
              <a:t> April</a:t>
            </a:r>
          </a:p>
          <a:p>
            <a:pPr algn="ctr"/>
            <a:r>
              <a:rPr lang="en-GB" sz="1600" dirty="0">
                <a:solidFill>
                  <a:schemeClr val="tx1"/>
                </a:solidFill>
              </a:rPr>
              <a:t>Evaluation</a:t>
            </a:r>
          </a:p>
        </p:txBody>
      </p:sp>
      <p:sp>
        <p:nvSpPr>
          <p:cNvPr id="16" name="Rectangle: Rounded Corners 15">
            <a:extLst>
              <a:ext uri="{FF2B5EF4-FFF2-40B4-BE49-F238E27FC236}">
                <a16:creationId xmlns:a16="http://schemas.microsoft.com/office/drawing/2014/main" id="{BCF5B1BC-4AE4-F84E-C0B4-752DF33484B9}"/>
              </a:ext>
            </a:extLst>
          </p:cNvPr>
          <p:cNvSpPr/>
          <p:nvPr/>
        </p:nvSpPr>
        <p:spPr>
          <a:xfrm>
            <a:off x="7696913" y="387361"/>
            <a:ext cx="1690499" cy="1290611"/>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15</a:t>
            </a:r>
            <a:r>
              <a:rPr lang="en-GB" sz="1600" baseline="30000" dirty="0">
                <a:solidFill>
                  <a:schemeClr val="tx1"/>
                </a:solidFill>
              </a:rPr>
              <a:t>th</a:t>
            </a:r>
            <a:r>
              <a:rPr lang="en-GB" sz="1600" dirty="0">
                <a:solidFill>
                  <a:schemeClr val="tx1"/>
                </a:solidFill>
              </a:rPr>
              <a:t> February</a:t>
            </a:r>
          </a:p>
          <a:p>
            <a:pPr algn="ctr"/>
            <a:r>
              <a:rPr lang="en-GB" sz="1600" dirty="0">
                <a:solidFill>
                  <a:schemeClr val="tx1"/>
                </a:solidFill>
              </a:rPr>
              <a:t>Finalise</a:t>
            </a:r>
          </a:p>
          <a:p>
            <a:pPr algn="ctr"/>
            <a:r>
              <a:rPr lang="en-GB" sz="1600" dirty="0">
                <a:solidFill>
                  <a:schemeClr val="tx1"/>
                </a:solidFill>
              </a:rPr>
              <a:t>Proposal</a:t>
            </a:r>
          </a:p>
        </p:txBody>
      </p:sp>
      <p:sp>
        <p:nvSpPr>
          <p:cNvPr id="18" name="Rectangle: Rounded Corners 17">
            <a:extLst>
              <a:ext uri="{FF2B5EF4-FFF2-40B4-BE49-F238E27FC236}">
                <a16:creationId xmlns:a16="http://schemas.microsoft.com/office/drawing/2014/main" id="{1EFCEA67-340A-4FC9-CFA0-8CC8166C9159}"/>
              </a:ext>
            </a:extLst>
          </p:cNvPr>
          <p:cNvSpPr/>
          <p:nvPr/>
        </p:nvSpPr>
        <p:spPr>
          <a:xfrm>
            <a:off x="10435379" y="5280837"/>
            <a:ext cx="1690499" cy="1290611"/>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6</a:t>
            </a:r>
            <a:r>
              <a:rPr lang="en-GB" sz="1600" baseline="30000" dirty="0">
                <a:solidFill>
                  <a:schemeClr val="tx1"/>
                </a:solidFill>
              </a:rPr>
              <a:t>th</a:t>
            </a:r>
            <a:r>
              <a:rPr lang="en-GB" sz="1600" dirty="0">
                <a:solidFill>
                  <a:schemeClr val="tx1"/>
                </a:solidFill>
              </a:rPr>
              <a:t> March</a:t>
            </a:r>
          </a:p>
          <a:p>
            <a:pPr algn="ctr"/>
            <a:r>
              <a:rPr lang="en-GB" sz="1600" dirty="0">
                <a:solidFill>
                  <a:schemeClr val="tx1"/>
                </a:solidFill>
              </a:rPr>
              <a:t>GUI Design</a:t>
            </a:r>
          </a:p>
        </p:txBody>
      </p:sp>
      <p:sp>
        <p:nvSpPr>
          <p:cNvPr id="20" name="Rectangle: Rounded Corners 19">
            <a:extLst>
              <a:ext uri="{FF2B5EF4-FFF2-40B4-BE49-F238E27FC236}">
                <a16:creationId xmlns:a16="http://schemas.microsoft.com/office/drawing/2014/main" id="{2430F3B5-688C-136D-64D5-B03D467C459F}"/>
              </a:ext>
            </a:extLst>
          </p:cNvPr>
          <p:cNvSpPr/>
          <p:nvPr/>
        </p:nvSpPr>
        <p:spPr>
          <a:xfrm>
            <a:off x="3585689" y="5280837"/>
            <a:ext cx="1690499" cy="1290611"/>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20</a:t>
            </a:r>
            <a:r>
              <a:rPr lang="en-GB" sz="1600" baseline="30000" dirty="0">
                <a:solidFill>
                  <a:schemeClr val="tx1"/>
                </a:solidFill>
              </a:rPr>
              <a:t>th</a:t>
            </a:r>
            <a:r>
              <a:rPr lang="en-GB" sz="1600" dirty="0">
                <a:solidFill>
                  <a:schemeClr val="tx1"/>
                </a:solidFill>
              </a:rPr>
              <a:t> March</a:t>
            </a:r>
          </a:p>
          <a:p>
            <a:pPr algn="ctr"/>
            <a:r>
              <a:rPr lang="en-GB" sz="1600" dirty="0">
                <a:solidFill>
                  <a:schemeClr val="tx1"/>
                </a:solidFill>
              </a:rPr>
              <a:t>Poster Session</a:t>
            </a:r>
          </a:p>
        </p:txBody>
      </p:sp>
      <p:sp>
        <p:nvSpPr>
          <p:cNvPr id="22" name="Rectangle: Rounded Corners 21">
            <a:extLst>
              <a:ext uri="{FF2B5EF4-FFF2-40B4-BE49-F238E27FC236}">
                <a16:creationId xmlns:a16="http://schemas.microsoft.com/office/drawing/2014/main" id="{E08288ED-413D-0168-9800-C13ED1FAB75D}"/>
              </a:ext>
            </a:extLst>
          </p:cNvPr>
          <p:cNvSpPr/>
          <p:nvPr/>
        </p:nvSpPr>
        <p:spPr>
          <a:xfrm>
            <a:off x="7354977" y="5274071"/>
            <a:ext cx="1690499" cy="1290611"/>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11</a:t>
            </a:r>
            <a:r>
              <a:rPr lang="en-GB" sz="1600" baseline="30000" dirty="0">
                <a:solidFill>
                  <a:schemeClr val="tx1"/>
                </a:solidFill>
              </a:rPr>
              <a:t>th</a:t>
            </a:r>
            <a:r>
              <a:rPr lang="en-GB" sz="1600" dirty="0">
                <a:solidFill>
                  <a:schemeClr val="tx1"/>
                </a:solidFill>
              </a:rPr>
              <a:t> March</a:t>
            </a:r>
          </a:p>
          <a:p>
            <a:pPr algn="ctr"/>
            <a:r>
              <a:rPr lang="en-GB" sz="1600" dirty="0">
                <a:solidFill>
                  <a:schemeClr val="tx1"/>
                </a:solidFill>
              </a:rPr>
              <a:t>Poster Submission</a:t>
            </a:r>
          </a:p>
        </p:txBody>
      </p:sp>
      <p:pic>
        <p:nvPicPr>
          <p:cNvPr id="28" name="Graphic 27" descr="Arrow: Straight with solid fill">
            <a:extLst>
              <a:ext uri="{FF2B5EF4-FFF2-40B4-BE49-F238E27FC236}">
                <a16:creationId xmlns:a16="http://schemas.microsoft.com/office/drawing/2014/main" id="{BF0D74B5-865E-6F4B-5701-55B2ECD5D79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a:off x="6718929" y="481418"/>
            <a:ext cx="914400" cy="914400"/>
          </a:xfrm>
          <a:prstGeom prst="rect">
            <a:avLst/>
          </a:prstGeom>
        </p:spPr>
      </p:pic>
      <p:pic>
        <p:nvPicPr>
          <p:cNvPr id="29" name="Graphic 28" descr="Arrow: Straight with solid fill">
            <a:extLst>
              <a:ext uri="{FF2B5EF4-FFF2-40B4-BE49-F238E27FC236}">
                <a16:creationId xmlns:a16="http://schemas.microsoft.com/office/drawing/2014/main" id="{44027C42-591F-0541-DCB8-8CE529BF9CA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a:off x="9448309" y="481418"/>
            <a:ext cx="914400" cy="914400"/>
          </a:xfrm>
          <a:prstGeom prst="rect">
            <a:avLst/>
          </a:prstGeom>
        </p:spPr>
      </p:pic>
      <p:pic>
        <p:nvPicPr>
          <p:cNvPr id="30" name="Graphic 29" descr="Arrow: Straight with solid fill">
            <a:extLst>
              <a:ext uri="{FF2B5EF4-FFF2-40B4-BE49-F238E27FC236}">
                <a16:creationId xmlns:a16="http://schemas.microsoft.com/office/drawing/2014/main" id="{5329A5CF-CCAA-2D9D-ECB9-0ABD338CE71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0823428" y="1767109"/>
            <a:ext cx="914400" cy="914400"/>
          </a:xfrm>
          <a:prstGeom prst="rect">
            <a:avLst/>
          </a:prstGeom>
        </p:spPr>
      </p:pic>
      <p:pic>
        <p:nvPicPr>
          <p:cNvPr id="31" name="Graphic 30" descr="Arrow: Straight with solid fill">
            <a:extLst>
              <a:ext uri="{FF2B5EF4-FFF2-40B4-BE49-F238E27FC236}">
                <a16:creationId xmlns:a16="http://schemas.microsoft.com/office/drawing/2014/main" id="{4103780C-8C48-5A17-D8A5-CE56B392D5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6200000">
            <a:off x="10823428" y="4187114"/>
            <a:ext cx="914400" cy="914400"/>
          </a:xfrm>
          <a:prstGeom prst="rect">
            <a:avLst/>
          </a:prstGeom>
        </p:spPr>
      </p:pic>
      <p:pic>
        <p:nvPicPr>
          <p:cNvPr id="32" name="Graphic 31" descr="Arrow: Straight with solid fill">
            <a:extLst>
              <a:ext uri="{FF2B5EF4-FFF2-40B4-BE49-F238E27FC236}">
                <a16:creationId xmlns:a16="http://schemas.microsoft.com/office/drawing/2014/main" id="{1F93687C-A0F8-51BD-450C-FCA60EDD19F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292752" y="5471701"/>
            <a:ext cx="914400" cy="914400"/>
          </a:xfrm>
          <a:prstGeom prst="rect">
            <a:avLst/>
          </a:prstGeom>
        </p:spPr>
      </p:pic>
      <p:pic>
        <p:nvPicPr>
          <p:cNvPr id="33" name="Graphic 32" descr="Arrow: Straight with solid fill">
            <a:extLst>
              <a:ext uri="{FF2B5EF4-FFF2-40B4-BE49-F238E27FC236}">
                <a16:creationId xmlns:a16="http://schemas.microsoft.com/office/drawing/2014/main" id="{7E98CFAB-A2DC-5ADA-22FF-C14AEE66CAE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60585" y="5466240"/>
            <a:ext cx="914400" cy="914400"/>
          </a:xfrm>
          <a:prstGeom prst="rect">
            <a:avLst/>
          </a:prstGeom>
        </p:spPr>
      </p:pic>
      <p:pic>
        <p:nvPicPr>
          <p:cNvPr id="34" name="Graphic 33" descr="Arrow: Straight with solid fill">
            <a:extLst>
              <a:ext uri="{FF2B5EF4-FFF2-40B4-BE49-F238E27FC236}">
                <a16:creationId xmlns:a16="http://schemas.microsoft.com/office/drawing/2014/main" id="{90304C46-8CB0-6738-1B41-C67C37943C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98425" y="5471701"/>
            <a:ext cx="914400" cy="914400"/>
          </a:xfrm>
          <a:prstGeom prst="rect">
            <a:avLst/>
          </a:prstGeom>
        </p:spPr>
      </p:pic>
      <p:sp>
        <p:nvSpPr>
          <p:cNvPr id="2" name="TextBox 1">
            <a:extLst>
              <a:ext uri="{FF2B5EF4-FFF2-40B4-BE49-F238E27FC236}">
                <a16:creationId xmlns:a16="http://schemas.microsoft.com/office/drawing/2014/main" id="{7CFB01D4-5506-66D6-7BD4-BE73BFF8BAC4}"/>
              </a:ext>
            </a:extLst>
          </p:cNvPr>
          <p:cNvSpPr txBox="1"/>
          <p:nvPr/>
        </p:nvSpPr>
        <p:spPr>
          <a:xfrm>
            <a:off x="7467465" y="4678445"/>
            <a:ext cx="1394392" cy="646331"/>
          </a:xfrm>
          <a:prstGeom prst="rect">
            <a:avLst/>
          </a:prstGeom>
          <a:noFill/>
        </p:spPr>
        <p:txBody>
          <a:bodyPr wrap="square" rtlCol="0">
            <a:spAutoFit/>
          </a:bodyPr>
          <a:lstStyle/>
          <a:p>
            <a:r>
              <a:rPr lang="en-GB" b="1" dirty="0">
                <a:solidFill>
                  <a:srgbClr val="92D050"/>
                </a:solidFill>
              </a:rPr>
              <a:t>Complete</a:t>
            </a:r>
          </a:p>
          <a:p>
            <a:r>
              <a:rPr lang="en-GB" b="1" dirty="0">
                <a:solidFill>
                  <a:srgbClr val="92D050"/>
                </a:solidFill>
              </a:rPr>
              <a:t>09/03/2024</a:t>
            </a:r>
          </a:p>
        </p:txBody>
      </p:sp>
      <p:sp>
        <p:nvSpPr>
          <p:cNvPr id="3" name="TextBox 2">
            <a:extLst>
              <a:ext uri="{FF2B5EF4-FFF2-40B4-BE49-F238E27FC236}">
                <a16:creationId xmlns:a16="http://schemas.microsoft.com/office/drawing/2014/main" id="{D3F81D1F-4060-F5EA-F265-6285ACC46661}"/>
              </a:ext>
            </a:extLst>
          </p:cNvPr>
          <p:cNvSpPr txBox="1"/>
          <p:nvPr/>
        </p:nvSpPr>
        <p:spPr>
          <a:xfrm>
            <a:off x="9152265" y="3111469"/>
            <a:ext cx="1394392" cy="646331"/>
          </a:xfrm>
          <a:prstGeom prst="rect">
            <a:avLst/>
          </a:prstGeom>
          <a:noFill/>
        </p:spPr>
        <p:txBody>
          <a:bodyPr wrap="square" rtlCol="0">
            <a:spAutoFit/>
          </a:bodyPr>
          <a:lstStyle/>
          <a:p>
            <a:r>
              <a:rPr lang="en-GB" b="1" dirty="0">
                <a:solidFill>
                  <a:srgbClr val="92D050"/>
                </a:solidFill>
              </a:rPr>
              <a:t>Complete</a:t>
            </a:r>
          </a:p>
          <a:p>
            <a:r>
              <a:rPr lang="en-GB" b="1" dirty="0">
                <a:solidFill>
                  <a:srgbClr val="92D050"/>
                </a:solidFill>
              </a:rPr>
              <a:t>28/02/2024</a:t>
            </a:r>
          </a:p>
        </p:txBody>
      </p:sp>
    </p:spTree>
    <p:extLst>
      <p:ext uri="{BB962C8B-B14F-4D97-AF65-F5344CB8AC3E}">
        <p14:creationId xmlns:p14="http://schemas.microsoft.com/office/powerpoint/2010/main" val="2256040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093B8-CBC0-05E7-EE86-6F1956754448}"/>
              </a:ext>
            </a:extLst>
          </p:cNvPr>
          <p:cNvSpPr>
            <a:spLocks noGrp="1"/>
          </p:cNvSpPr>
          <p:nvPr>
            <p:ph type="title"/>
          </p:nvPr>
        </p:nvSpPr>
        <p:spPr>
          <a:xfrm>
            <a:off x="964834" y="232913"/>
            <a:ext cx="8977511" cy="633878"/>
          </a:xfrm>
        </p:spPr>
        <p:txBody>
          <a:bodyPr/>
          <a:lstStyle/>
          <a:p>
            <a:r>
              <a:rPr lang="en-GB" dirty="0"/>
              <a:t>Inspirations for the idea</a:t>
            </a:r>
          </a:p>
        </p:txBody>
      </p:sp>
      <p:sp>
        <p:nvSpPr>
          <p:cNvPr id="3" name="Content Placeholder 2">
            <a:extLst>
              <a:ext uri="{FF2B5EF4-FFF2-40B4-BE49-F238E27FC236}">
                <a16:creationId xmlns:a16="http://schemas.microsoft.com/office/drawing/2014/main" id="{C92CBF46-19E1-CA15-9FD4-21C2CF6C8DD5}"/>
              </a:ext>
            </a:extLst>
          </p:cNvPr>
          <p:cNvSpPr>
            <a:spLocks noGrp="1"/>
          </p:cNvSpPr>
          <p:nvPr>
            <p:ph idx="1"/>
          </p:nvPr>
        </p:nvSpPr>
        <p:spPr>
          <a:xfrm>
            <a:off x="1025221" y="1056666"/>
            <a:ext cx="2934303" cy="4740285"/>
          </a:xfrm>
        </p:spPr>
        <p:txBody>
          <a:bodyPr>
            <a:normAutofit fontScale="85000" lnSpcReduction="20000"/>
          </a:bodyPr>
          <a:lstStyle/>
          <a:p>
            <a:pPr marL="0" indent="0">
              <a:buNone/>
            </a:pPr>
            <a:r>
              <a:rPr lang="en-GB" dirty="0"/>
              <a:t>Often depicted within the realms of science fiction and fantasy, technologically advanced wrist mounted computers which are multi-functional tools, capable of enhancing the users lives with improvements to health, communication, information access, and connectivity, have long been the dreams of technology and sci-fi enthusiasts alike.</a:t>
            </a:r>
          </a:p>
          <a:p>
            <a:pPr marL="0" indent="0">
              <a:buNone/>
            </a:pPr>
            <a:r>
              <a:rPr lang="en-GB" dirty="0"/>
              <a:t>Some of the inspiration behind the idea comes from a variety of such media, including video games, films and television like Star Trek, Fallout, and 2001 a space Odyssey to name a few examples. </a:t>
            </a:r>
          </a:p>
        </p:txBody>
      </p:sp>
      <p:pic>
        <p:nvPicPr>
          <p:cNvPr id="4" name="Picture 3">
            <a:extLst>
              <a:ext uri="{FF2B5EF4-FFF2-40B4-BE49-F238E27FC236}">
                <a16:creationId xmlns:a16="http://schemas.microsoft.com/office/drawing/2014/main" id="{A0FD8A8D-5F3C-C9DA-8E3D-A666D2C8C9AA}"/>
              </a:ext>
            </a:extLst>
          </p:cNvPr>
          <p:cNvPicPr>
            <a:picLocks noChangeAspect="1"/>
          </p:cNvPicPr>
          <p:nvPr/>
        </p:nvPicPr>
        <p:blipFill rotWithShape="1">
          <a:blip r:embed="rId2"/>
          <a:srcRect t="3914" b="11415"/>
          <a:stretch/>
        </p:blipFill>
        <p:spPr>
          <a:xfrm>
            <a:off x="4181476" y="995419"/>
            <a:ext cx="2886974" cy="152098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Rectangle 4">
            <a:extLst>
              <a:ext uri="{FF2B5EF4-FFF2-40B4-BE49-F238E27FC236}">
                <a16:creationId xmlns:a16="http://schemas.microsoft.com/office/drawing/2014/main" id="{B33F4048-9639-1684-9593-95B827B4D46F}"/>
              </a:ext>
            </a:extLst>
          </p:cNvPr>
          <p:cNvSpPr/>
          <p:nvPr/>
        </p:nvSpPr>
        <p:spPr>
          <a:xfrm rot="5400000">
            <a:off x="1567826" y="3352078"/>
            <a:ext cx="4905555" cy="149459"/>
          </a:xfrm>
          <a:prstGeom prst="rect">
            <a:avLst/>
          </a:prstGeom>
          <a:solidFill>
            <a:srgbClr val="F17F96"/>
          </a:solidFill>
          <a:ln>
            <a:solidFill>
              <a:srgbClr val="F17F9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D56A2559-F99E-7E89-D27F-6F3C19739582}"/>
              </a:ext>
            </a:extLst>
          </p:cNvPr>
          <p:cNvPicPr>
            <a:picLocks noChangeAspect="1"/>
          </p:cNvPicPr>
          <p:nvPr/>
        </p:nvPicPr>
        <p:blipFill>
          <a:blip r:embed="rId3"/>
          <a:stretch>
            <a:fillRect/>
          </a:stretch>
        </p:blipFill>
        <p:spPr>
          <a:xfrm rot="10800000">
            <a:off x="4185789" y="2727698"/>
            <a:ext cx="2738247" cy="154267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8" name="Rectangle 7">
            <a:extLst>
              <a:ext uri="{FF2B5EF4-FFF2-40B4-BE49-F238E27FC236}">
                <a16:creationId xmlns:a16="http://schemas.microsoft.com/office/drawing/2014/main" id="{6B4E44B8-FD00-09B3-C440-AEA2ED22C5D9}"/>
              </a:ext>
            </a:extLst>
          </p:cNvPr>
          <p:cNvSpPr/>
          <p:nvPr/>
        </p:nvSpPr>
        <p:spPr>
          <a:xfrm flipV="1">
            <a:off x="4095334" y="4401817"/>
            <a:ext cx="7172741" cy="45719"/>
          </a:xfrm>
          <a:prstGeom prst="rect">
            <a:avLst/>
          </a:prstGeom>
          <a:solidFill>
            <a:srgbClr val="F17F96"/>
          </a:solidFill>
          <a:ln>
            <a:solidFill>
              <a:srgbClr val="F17F9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4599671B-8D3C-FFC6-A35D-483B3815FA74}"/>
              </a:ext>
            </a:extLst>
          </p:cNvPr>
          <p:cNvSpPr/>
          <p:nvPr/>
        </p:nvSpPr>
        <p:spPr>
          <a:xfrm flipV="1">
            <a:off x="4095334" y="2574297"/>
            <a:ext cx="7172741" cy="45719"/>
          </a:xfrm>
          <a:prstGeom prst="rect">
            <a:avLst/>
          </a:prstGeom>
          <a:solidFill>
            <a:srgbClr val="F17F96"/>
          </a:solidFill>
          <a:ln>
            <a:solidFill>
              <a:srgbClr val="F17F9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082C0ED6-0622-51DF-9843-A686E1073DFC}"/>
              </a:ext>
            </a:extLst>
          </p:cNvPr>
          <p:cNvSpPr txBox="1"/>
          <p:nvPr/>
        </p:nvSpPr>
        <p:spPr>
          <a:xfrm>
            <a:off x="7014490" y="2632056"/>
            <a:ext cx="4193202" cy="738664"/>
          </a:xfrm>
          <a:prstGeom prst="rect">
            <a:avLst/>
          </a:prstGeom>
          <a:noFill/>
        </p:spPr>
        <p:txBody>
          <a:bodyPr wrap="square">
            <a:spAutoFit/>
          </a:bodyPr>
          <a:lstStyle/>
          <a:p>
            <a:pPr algn="l" fontAlgn="base"/>
            <a:r>
              <a:rPr lang="en-GB" sz="1400" b="0" i="0" dirty="0">
                <a:solidFill>
                  <a:schemeClr val="accent1"/>
                </a:solidFill>
                <a:effectLst/>
                <a:latin typeface="Ubuntu" panose="020F0502020204030204" pitchFamily="34" charset="0"/>
              </a:rPr>
              <a:t>Kubrick, S. (Director). (1968) 2001: A Space Odyssey </a:t>
            </a:r>
            <a:r>
              <a:rPr lang="en-GB" sz="1400" dirty="0">
                <a:solidFill>
                  <a:schemeClr val="accent1"/>
                </a:solidFill>
                <a:latin typeface="Ubuntu" panose="020F0502020204030204" pitchFamily="34" charset="0"/>
              </a:rPr>
              <a:t>[Film]. Stanley Kubrick Productions (1:17:14)</a:t>
            </a:r>
            <a:endParaRPr lang="en-GB" sz="1400" dirty="0">
              <a:solidFill>
                <a:schemeClr val="accent1"/>
              </a:solidFill>
            </a:endParaRPr>
          </a:p>
        </p:txBody>
      </p:sp>
      <p:sp>
        <p:nvSpPr>
          <p:cNvPr id="12" name="TextBox 11">
            <a:extLst>
              <a:ext uri="{FF2B5EF4-FFF2-40B4-BE49-F238E27FC236}">
                <a16:creationId xmlns:a16="http://schemas.microsoft.com/office/drawing/2014/main" id="{273EE685-6EA6-83BD-1100-F9763E70479D}"/>
              </a:ext>
            </a:extLst>
          </p:cNvPr>
          <p:cNvSpPr txBox="1"/>
          <p:nvPr/>
        </p:nvSpPr>
        <p:spPr>
          <a:xfrm>
            <a:off x="7016693" y="961780"/>
            <a:ext cx="4190999" cy="523220"/>
          </a:xfrm>
          <a:prstGeom prst="rect">
            <a:avLst/>
          </a:prstGeom>
          <a:noFill/>
        </p:spPr>
        <p:txBody>
          <a:bodyPr wrap="square">
            <a:spAutoFit/>
          </a:bodyPr>
          <a:lstStyle/>
          <a:p>
            <a:pPr algn="l" fontAlgn="base"/>
            <a:r>
              <a:rPr lang="en-GB" sz="1400" dirty="0">
                <a:solidFill>
                  <a:schemeClr val="accent1"/>
                </a:solidFill>
                <a:latin typeface="Ubuntu" panose="020F0502020204030204" pitchFamily="34" charset="0"/>
              </a:rPr>
              <a:t>Bethesda Game Studios (2008), Fallout 3 [Video Game]</a:t>
            </a:r>
            <a:endParaRPr lang="en-GB" sz="1400" dirty="0">
              <a:solidFill>
                <a:schemeClr val="accent1"/>
              </a:solidFill>
            </a:endParaRPr>
          </a:p>
        </p:txBody>
      </p:sp>
      <p:sp>
        <p:nvSpPr>
          <p:cNvPr id="13" name="TextBox 12">
            <a:extLst>
              <a:ext uri="{FF2B5EF4-FFF2-40B4-BE49-F238E27FC236}">
                <a16:creationId xmlns:a16="http://schemas.microsoft.com/office/drawing/2014/main" id="{44ECE38A-40D0-0C54-A3BB-D0AC18C5E706}"/>
              </a:ext>
            </a:extLst>
          </p:cNvPr>
          <p:cNvSpPr txBox="1"/>
          <p:nvPr/>
        </p:nvSpPr>
        <p:spPr>
          <a:xfrm>
            <a:off x="7067911" y="4504457"/>
            <a:ext cx="4066021" cy="523220"/>
          </a:xfrm>
          <a:prstGeom prst="rect">
            <a:avLst/>
          </a:prstGeom>
          <a:noFill/>
        </p:spPr>
        <p:txBody>
          <a:bodyPr wrap="square">
            <a:spAutoFit/>
          </a:bodyPr>
          <a:lstStyle/>
          <a:p>
            <a:pPr algn="l" fontAlgn="base"/>
            <a:r>
              <a:rPr lang="en-GB" sz="1400" b="0" i="0" dirty="0">
                <a:solidFill>
                  <a:schemeClr val="accent1"/>
                </a:solidFill>
                <a:effectLst/>
                <a:latin typeface="Ubuntu" panose="020F0502020204030204" pitchFamily="34" charset="0"/>
              </a:rPr>
              <a:t>Roddenberry, G. (Executive Producer),Star Trek (September 8,1966 – June 3, 1969), NBC</a:t>
            </a:r>
            <a:endParaRPr lang="en-GB" sz="1400" dirty="0">
              <a:solidFill>
                <a:schemeClr val="accent1"/>
              </a:solidFill>
            </a:endParaRPr>
          </a:p>
        </p:txBody>
      </p:sp>
      <p:pic>
        <p:nvPicPr>
          <p:cNvPr id="14" name="Picture 13">
            <a:extLst>
              <a:ext uri="{FF2B5EF4-FFF2-40B4-BE49-F238E27FC236}">
                <a16:creationId xmlns:a16="http://schemas.microsoft.com/office/drawing/2014/main" id="{9AE10CA2-ED22-216E-E485-55F993C88BBA}"/>
              </a:ext>
            </a:extLst>
          </p:cNvPr>
          <p:cNvPicPr>
            <a:picLocks noChangeAspect="1"/>
          </p:cNvPicPr>
          <p:nvPr/>
        </p:nvPicPr>
        <p:blipFill rotWithShape="1">
          <a:blip r:embed="rId4"/>
          <a:srcRect b="3243"/>
          <a:stretch/>
        </p:blipFill>
        <p:spPr>
          <a:xfrm>
            <a:off x="4482864" y="4504457"/>
            <a:ext cx="2200275" cy="136398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6" name="TextBox 15">
            <a:extLst>
              <a:ext uri="{FF2B5EF4-FFF2-40B4-BE49-F238E27FC236}">
                <a16:creationId xmlns:a16="http://schemas.microsoft.com/office/drawing/2014/main" id="{54F087FA-E51C-3914-0633-563DE9B30A71}"/>
              </a:ext>
            </a:extLst>
          </p:cNvPr>
          <p:cNvSpPr txBox="1"/>
          <p:nvPr/>
        </p:nvSpPr>
        <p:spPr>
          <a:xfrm>
            <a:off x="7014490" y="1393652"/>
            <a:ext cx="4190998" cy="1223412"/>
          </a:xfrm>
          <a:prstGeom prst="rect">
            <a:avLst/>
          </a:prstGeom>
          <a:noFill/>
        </p:spPr>
        <p:txBody>
          <a:bodyPr wrap="square" rtlCol="0">
            <a:spAutoFit/>
          </a:bodyPr>
          <a:lstStyle/>
          <a:p>
            <a:r>
              <a:rPr lang="en-GB" sz="1050" dirty="0"/>
              <a:t>The device featured in this game known as the Pip-Boy, which acts as the players/In game characters personal hub displaying their general health and any conditions or afflictions they may have acquired such as infections and addictions. The device also acts as a catalogue of items the player has on their person, displaying amounts and specifics about each item as well as allowing the player to view and map the areas they have explored and connect to the in-game radio stations.</a:t>
            </a:r>
          </a:p>
        </p:txBody>
      </p:sp>
      <p:sp>
        <p:nvSpPr>
          <p:cNvPr id="17" name="TextBox 16">
            <a:extLst>
              <a:ext uri="{FF2B5EF4-FFF2-40B4-BE49-F238E27FC236}">
                <a16:creationId xmlns:a16="http://schemas.microsoft.com/office/drawing/2014/main" id="{7D56AA83-5DA6-90CA-795B-E4943BEA55BE}"/>
              </a:ext>
            </a:extLst>
          </p:cNvPr>
          <p:cNvSpPr txBox="1"/>
          <p:nvPr/>
        </p:nvSpPr>
        <p:spPr>
          <a:xfrm>
            <a:off x="7050463" y="3297417"/>
            <a:ext cx="4155025" cy="900246"/>
          </a:xfrm>
          <a:prstGeom prst="rect">
            <a:avLst/>
          </a:prstGeom>
          <a:noFill/>
        </p:spPr>
        <p:txBody>
          <a:bodyPr wrap="square" rtlCol="0">
            <a:spAutoFit/>
          </a:bodyPr>
          <a:lstStyle/>
          <a:p>
            <a:r>
              <a:rPr lang="en-GB" sz="1050" dirty="0"/>
              <a:t>An early rendition envisioning the future of space travel and the devices associated with being able to achieve such feats, from a film that has influenced and inspired  popular culture for generations from the ideas it has generated, and the aesthetical choices made for the design and intent of the technology depicted in the film.</a:t>
            </a:r>
          </a:p>
        </p:txBody>
      </p:sp>
      <p:sp>
        <p:nvSpPr>
          <p:cNvPr id="18" name="TextBox 17">
            <a:extLst>
              <a:ext uri="{FF2B5EF4-FFF2-40B4-BE49-F238E27FC236}">
                <a16:creationId xmlns:a16="http://schemas.microsoft.com/office/drawing/2014/main" id="{B34CD389-CF26-024E-3C54-FB93D797C764}"/>
              </a:ext>
            </a:extLst>
          </p:cNvPr>
          <p:cNvSpPr txBox="1"/>
          <p:nvPr/>
        </p:nvSpPr>
        <p:spPr>
          <a:xfrm>
            <a:off x="7055961" y="4962264"/>
            <a:ext cx="4212114" cy="900246"/>
          </a:xfrm>
          <a:prstGeom prst="rect">
            <a:avLst/>
          </a:prstGeom>
          <a:noFill/>
        </p:spPr>
        <p:txBody>
          <a:bodyPr wrap="square" rtlCol="0">
            <a:spAutoFit/>
          </a:bodyPr>
          <a:lstStyle/>
          <a:p>
            <a:r>
              <a:rPr lang="en-GB" sz="1050" dirty="0"/>
              <a:t>Another classic example of wearable sci-fi technology, known as the wrist communicator from the original star trek television series. Simply used to allow the crew members to effectively communicate with one another across large distances, including the additional functions of location tracking and being able to connect directly to their spacecraft.</a:t>
            </a:r>
          </a:p>
        </p:txBody>
      </p:sp>
      <p:sp>
        <p:nvSpPr>
          <p:cNvPr id="21" name="TextBox 20">
            <a:extLst>
              <a:ext uri="{FF2B5EF4-FFF2-40B4-BE49-F238E27FC236}">
                <a16:creationId xmlns:a16="http://schemas.microsoft.com/office/drawing/2014/main" id="{2360A95C-7489-9A1D-EC54-B9E48CD37C46}"/>
              </a:ext>
            </a:extLst>
          </p:cNvPr>
          <p:cNvSpPr txBox="1"/>
          <p:nvPr/>
        </p:nvSpPr>
        <p:spPr>
          <a:xfrm>
            <a:off x="4498613" y="5647066"/>
            <a:ext cx="6094562" cy="215444"/>
          </a:xfrm>
          <a:prstGeom prst="rect">
            <a:avLst/>
          </a:prstGeom>
          <a:noFill/>
        </p:spPr>
        <p:txBody>
          <a:bodyPr wrap="square">
            <a:spAutoFit/>
          </a:bodyPr>
          <a:lstStyle/>
          <a:p>
            <a:r>
              <a:rPr lang="en-GB" sz="800" dirty="0">
                <a:solidFill>
                  <a:schemeClr val="accent1"/>
                </a:solidFill>
              </a:rPr>
              <a:t>(Wheeler, n.d.)</a:t>
            </a:r>
          </a:p>
        </p:txBody>
      </p:sp>
      <p:sp>
        <p:nvSpPr>
          <p:cNvPr id="24" name="TextBox 23">
            <a:extLst>
              <a:ext uri="{FF2B5EF4-FFF2-40B4-BE49-F238E27FC236}">
                <a16:creationId xmlns:a16="http://schemas.microsoft.com/office/drawing/2014/main" id="{55B220F6-1075-4C94-7F22-C8E974D1B22A}"/>
              </a:ext>
            </a:extLst>
          </p:cNvPr>
          <p:cNvSpPr txBox="1"/>
          <p:nvPr/>
        </p:nvSpPr>
        <p:spPr>
          <a:xfrm>
            <a:off x="4638674" y="2302431"/>
            <a:ext cx="2141686" cy="213968"/>
          </a:xfrm>
          <a:prstGeom prst="rect">
            <a:avLst/>
          </a:prstGeom>
          <a:noFill/>
        </p:spPr>
        <p:txBody>
          <a:bodyPr wrap="square">
            <a:spAutoFit/>
          </a:bodyPr>
          <a:lstStyle/>
          <a:p>
            <a:r>
              <a:rPr lang="en-GB" sz="800" dirty="0">
                <a:solidFill>
                  <a:schemeClr val="accent1"/>
                </a:solidFill>
              </a:rPr>
              <a:t>(Fallout Pip Boy, </a:t>
            </a:r>
            <a:r>
              <a:rPr lang="en-GB" sz="800" dirty="0" err="1">
                <a:solidFill>
                  <a:schemeClr val="accent1"/>
                </a:solidFill>
              </a:rPr>
              <a:t>PNGitem</a:t>
            </a:r>
            <a:r>
              <a:rPr lang="en-GB" sz="800" dirty="0">
                <a:solidFill>
                  <a:schemeClr val="accent1"/>
                </a:solidFill>
              </a:rPr>
              <a:t>, n.d.)</a:t>
            </a:r>
          </a:p>
        </p:txBody>
      </p:sp>
    </p:spTree>
    <p:extLst>
      <p:ext uri="{BB962C8B-B14F-4D97-AF65-F5344CB8AC3E}">
        <p14:creationId xmlns:p14="http://schemas.microsoft.com/office/powerpoint/2010/main" val="2175341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3F92F-421F-DCAB-017D-AD3815F58D3F}"/>
              </a:ext>
            </a:extLst>
          </p:cNvPr>
          <p:cNvSpPr>
            <a:spLocks noGrp="1"/>
          </p:cNvSpPr>
          <p:nvPr>
            <p:ph type="title"/>
          </p:nvPr>
        </p:nvSpPr>
        <p:spPr>
          <a:xfrm>
            <a:off x="913076" y="232913"/>
            <a:ext cx="8977511" cy="702511"/>
          </a:xfrm>
        </p:spPr>
        <p:txBody>
          <a:bodyPr/>
          <a:lstStyle/>
          <a:p>
            <a:r>
              <a:rPr lang="en-GB" dirty="0"/>
              <a:t>Mood board</a:t>
            </a:r>
          </a:p>
        </p:txBody>
      </p:sp>
      <p:sp>
        <p:nvSpPr>
          <p:cNvPr id="3" name="Content Placeholder 2">
            <a:extLst>
              <a:ext uri="{FF2B5EF4-FFF2-40B4-BE49-F238E27FC236}">
                <a16:creationId xmlns:a16="http://schemas.microsoft.com/office/drawing/2014/main" id="{8B3CC12D-920A-4428-4AB2-7AFB91B0CA08}"/>
              </a:ext>
            </a:extLst>
          </p:cNvPr>
          <p:cNvSpPr>
            <a:spLocks noGrp="1"/>
          </p:cNvSpPr>
          <p:nvPr>
            <p:ph idx="1"/>
          </p:nvPr>
        </p:nvSpPr>
        <p:spPr>
          <a:xfrm>
            <a:off x="1009291" y="1040790"/>
            <a:ext cx="2303252" cy="4635391"/>
          </a:xfrm>
        </p:spPr>
        <p:txBody>
          <a:bodyPr>
            <a:normAutofit/>
          </a:bodyPr>
          <a:lstStyle/>
          <a:p>
            <a:pPr marL="0" indent="0">
              <a:buNone/>
            </a:pPr>
            <a:r>
              <a:rPr lang="en-GB" dirty="0"/>
              <a:t>Amalgamation of images relating to the project and the proposed device, including device designs, GUI layouts, inspirations, colour schemes, comparable existing products, potential features, and other similar images to help generate ideas.</a:t>
            </a:r>
          </a:p>
        </p:txBody>
      </p:sp>
    </p:spTree>
    <p:extLst>
      <p:ext uri="{BB962C8B-B14F-4D97-AF65-F5344CB8AC3E}">
        <p14:creationId xmlns:p14="http://schemas.microsoft.com/office/powerpoint/2010/main" val="894320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55448-7049-E418-9984-A5B74C4A0837}"/>
              </a:ext>
            </a:extLst>
          </p:cNvPr>
          <p:cNvSpPr>
            <a:spLocks noGrp="1"/>
          </p:cNvSpPr>
          <p:nvPr>
            <p:ph type="title"/>
          </p:nvPr>
        </p:nvSpPr>
        <p:spPr>
          <a:xfrm>
            <a:off x="995348" y="336430"/>
            <a:ext cx="8977511" cy="478224"/>
          </a:xfrm>
        </p:spPr>
        <p:txBody>
          <a:bodyPr>
            <a:normAutofit fontScale="90000"/>
          </a:bodyPr>
          <a:lstStyle/>
          <a:p>
            <a:r>
              <a:rPr lang="en-GB" dirty="0"/>
              <a:t>Early-Stage Sketches </a:t>
            </a:r>
          </a:p>
        </p:txBody>
      </p:sp>
      <p:sp>
        <p:nvSpPr>
          <p:cNvPr id="3" name="Content Placeholder 2">
            <a:extLst>
              <a:ext uri="{FF2B5EF4-FFF2-40B4-BE49-F238E27FC236}">
                <a16:creationId xmlns:a16="http://schemas.microsoft.com/office/drawing/2014/main" id="{912E5091-413C-AFCB-DA3B-D132651E26B4}"/>
              </a:ext>
            </a:extLst>
          </p:cNvPr>
          <p:cNvSpPr>
            <a:spLocks noGrp="1"/>
          </p:cNvSpPr>
          <p:nvPr>
            <p:ph idx="1"/>
          </p:nvPr>
        </p:nvSpPr>
        <p:spPr>
          <a:xfrm>
            <a:off x="995348" y="3562712"/>
            <a:ext cx="5163912" cy="2102231"/>
          </a:xfrm>
        </p:spPr>
        <p:txBody>
          <a:bodyPr>
            <a:normAutofit fontScale="92500"/>
          </a:bodyPr>
          <a:lstStyle/>
          <a:p>
            <a:pPr marL="0" indent="0">
              <a:buNone/>
            </a:pPr>
            <a:r>
              <a:rPr lang="en-GB" dirty="0"/>
              <a:t>Pictured on the bottom right is sketch.2, depicting the further developed concept of the proposed device, you can see some of the initial features and pieces of hardware being decided upon. Such as the placement of a camera, microphone, and speaker which are commonplace on most smart devices.</a:t>
            </a:r>
          </a:p>
        </p:txBody>
      </p:sp>
      <p:pic>
        <p:nvPicPr>
          <p:cNvPr id="5" name="Picture 4">
            <a:extLst>
              <a:ext uri="{FF2B5EF4-FFF2-40B4-BE49-F238E27FC236}">
                <a16:creationId xmlns:a16="http://schemas.microsoft.com/office/drawing/2014/main" id="{F5917123-62A5-20BF-4B50-16A1AED598A0}"/>
              </a:ext>
            </a:extLst>
          </p:cNvPr>
          <p:cNvPicPr>
            <a:picLocks noChangeAspect="1"/>
          </p:cNvPicPr>
          <p:nvPr/>
        </p:nvPicPr>
        <p:blipFill rotWithShape="1">
          <a:blip r:embed="rId2"/>
          <a:srcRect t="23750" b="33640"/>
          <a:stretch/>
        </p:blipFill>
        <p:spPr>
          <a:xfrm>
            <a:off x="7812656" y="3349859"/>
            <a:ext cx="3289054" cy="248761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6" name="Content Placeholder 2">
            <a:extLst>
              <a:ext uri="{FF2B5EF4-FFF2-40B4-BE49-F238E27FC236}">
                <a16:creationId xmlns:a16="http://schemas.microsoft.com/office/drawing/2014/main" id="{85F71921-A02E-FA53-5A86-8266DF4C4C2A}"/>
              </a:ext>
            </a:extLst>
          </p:cNvPr>
          <p:cNvSpPr txBox="1">
            <a:spLocks/>
          </p:cNvSpPr>
          <p:nvPr/>
        </p:nvSpPr>
        <p:spPr>
          <a:xfrm>
            <a:off x="995348" y="1031141"/>
            <a:ext cx="5163912" cy="210223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1700" dirty="0"/>
              <a:t>The primary sketch pictured on the top right is sketch.1, portraying how the device is intended to look, featuring a 3.5-inch curved touch screen which is ergonomically shaped to comfortably fit around the user's wrist without being over encumbering and for ease of use.</a:t>
            </a:r>
          </a:p>
        </p:txBody>
      </p:sp>
      <p:sp>
        <p:nvSpPr>
          <p:cNvPr id="9" name="Rectangle 8">
            <a:extLst>
              <a:ext uri="{FF2B5EF4-FFF2-40B4-BE49-F238E27FC236}">
                <a16:creationId xmlns:a16="http://schemas.microsoft.com/office/drawing/2014/main" id="{F12D0DB4-9163-26EF-07D5-F61F3B1D7D63}"/>
              </a:ext>
            </a:extLst>
          </p:cNvPr>
          <p:cNvSpPr/>
          <p:nvPr/>
        </p:nvSpPr>
        <p:spPr>
          <a:xfrm>
            <a:off x="1026546" y="3200400"/>
            <a:ext cx="4905555" cy="149459"/>
          </a:xfrm>
          <a:prstGeom prst="rect">
            <a:avLst/>
          </a:prstGeom>
          <a:solidFill>
            <a:srgbClr val="F17F96"/>
          </a:solidFill>
          <a:ln>
            <a:solidFill>
              <a:srgbClr val="F17F9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42922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BE2A49E-0BD9-321C-F602-AFA2FCF9B2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198" y="931857"/>
            <a:ext cx="10326946" cy="4996302"/>
          </a:xfrm>
          <a:prstGeom prst="rect">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812CB9FF-7D0E-C6EE-FD1E-5414C1C2FE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4AF4B06-53F0-C847-8C21-2E98F18146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Electronics protoboard">
            <a:extLst>
              <a:ext uri="{FF2B5EF4-FFF2-40B4-BE49-F238E27FC236}">
                <a16:creationId xmlns:a16="http://schemas.microsoft.com/office/drawing/2014/main" id="{822B54CD-3269-C6A5-0A49-4655B68CA189}"/>
              </a:ext>
            </a:extLst>
          </p:cNvPr>
          <p:cNvPicPr>
            <a:picLocks noChangeAspect="1"/>
          </p:cNvPicPr>
          <p:nvPr/>
        </p:nvPicPr>
        <p:blipFill rotWithShape="1">
          <a:blip r:embed="rId2">
            <a:alphaModFix/>
            <a:duotone>
              <a:schemeClr val="accent4">
                <a:shade val="45000"/>
                <a:satMod val="135000"/>
              </a:schemeClr>
              <a:prstClr val="white"/>
            </a:duotone>
          </a:blip>
          <a:srcRect t="15730"/>
          <a:stretch/>
        </p:blipFill>
        <p:spPr>
          <a:xfrm rot="10800000">
            <a:off x="-2" y="10"/>
            <a:ext cx="12192002" cy="6857990"/>
          </a:xfrm>
          <a:prstGeom prst="rect">
            <a:avLst/>
          </a:prstGeom>
        </p:spPr>
      </p:pic>
      <p:sp>
        <p:nvSpPr>
          <p:cNvPr id="15" name="Freeform: Shape 14">
            <a:extLst>
              <a:ext uri="{FF2B5EF4-FFF2-40B4-BE49-F238E27FC236}">
                <a16:creationId xmlns:a16="http://schemas.microsoft.com/office/drawing/2014/main" id="{7F70A2C4-3347-EF31-F002-FB70BCCF44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08344" y="938623"/>
            <a:ext cx="10369255" cy="4987842"/>
          </a:xfrm>
          <a:custGeom>
            <a:avLst/>
            <a:gdLst>
              <a:gd name="connsiteX0" fmla="*/ 0 w 4116027"/>
              <a:gd name="connsiteY0" fmla="*/ 0 h 5058263"/>
              <a:gd name="connsiteX1" fmla="*/ 3203647 w 4116027"/>
              <a:gd name="connsiteY1" fmla="*/ 0 h 5058263"/>
              <a:gd name="connsiteX2" fmla="*/ 3203647 w 4116027"/>
              <a:gd name="connsiteY2" fmla="*/ 1439014 h 5058263"/>
              <a:gd name="connsiteX3" fmla="*/ 4116027 w 4116027"/>
              <a:gd name="connsiteY3" fmla="*/ 1439014 h 5058263"/>
              <a:gd name="connsiteX4" fmla="*/ 4116027 w 4116027"/>
              <a:gd name="connsiteY4" fmla="*/ 5058263 h 5058263"/>
              <a:gd name="connsiteX5" fmla="*/ 0 w 4116027"/>
              <a:gd name="connsiteY5" fmla="*/ 5058263 h 5058263"/>
              <a:gd name="connsiteX0" fmla="*/ 3203647 w 4116027"/>
              <a:gd name="connsiteY0" fmla="*/ 1439014 h 5058263"/>
              <a:gd name="connsiteX1" fmla="*/ 4116027 w 4116027"/>
              <a:gd name="connsiteY1" fmla="*/ 1439014 h 5058263"/>
              <a:gd name="connsiteX2" fmla="*/ 4116027 w 4116027"/>
              <a:gd name="connsiteY2" fmla="*/ 5058263 h 5058263"/>
              <a:gd name="connsiteX3" fmla="*/ 0 w 4116027"/>
              <a:gd name="connsiteY3" fmla="*/ 5058263 h 5058263"/>
              <a:gd name="connsiteX4" fmla="*/ 0 w 4116027"/>
              <a:gd name="connsiteY4" fmla="*/ 0 h 5058263"/>
              <a:gd name="connsiteX5" fmla="*/ 3203647 w 4116027"/>
              <a:gd name="connsiteY5" fmla="*/ 0 h 5058263"/>
              <a:gd name="connsiteX6" fmla="*/ 3295087 w 4116027"/>
              <a:gd name="connsiteY6" fmla="*/ 1530454 h 5058263"/>
              <a:gd name="connsiteX0" fmla="*/ 3203647 w 4116027"/>
              <a:gd name="connsiteY0" fmla="*/ 1439014 h 5058263"/>
              <a:gd name="connsiteX1" fmla="*/ 4116027 w 4116027"/>
              <a:gd name="connsiteY1" fmla="*/ 1439014 h 5058263"/>
              <a:gd name="connsiteX2" fmla="*/ 4116027 w 4116027"/>
              <a:gd name="connsiteY2" fmla="*/ 5058263 h 5058263"/>
              <a:gd name="connsiteX3" fmla="*/ 0 w 4116027"/>
              <a:gd name="connsiteY3" fmla="*/ 5058263 h 5058263"/>
              <a:gd name="connsiteX4" fmla="*/ 0 w 4116027"/>
              <a:gd name="connsiteY4" fmla="*/ 0 h 5058263"/>
              <a:gd name="connsiteX5" fmla="*/ 3203647 w 4116027"/>
              <a:gd name="connsiteY5" fmla="*/ 0 h 5058263"/>
              <a:gd name="connsiteX0" fmla="*/ 4116027 w 4116027"/>
              <a:gd name="connsiteY0" fmla="*/ 1439014 h 5058263"/>
              <a:gd name="connsiteX1" fmla="*/ 4116027 w 4116027"/>
              <a:gd name="connsiteY1" fmla="*/ 5058263 h 5058263"/>
              <a:gd name="connsiteX2" fmla="*/ 0 w 4116027"/>
              <a:gd name="connsiteY2" fmla="*/ 5058263 h 5058263"/>
              <a:gd name="connsiteX3" fmla="*/ 0 w 4116027"/>
              <a:gd name="connsiteY3" fmla="*/ 0 h 5058263"/>
              <a:gd name="connsiteX4" fmla="*/ 3203647 w 4116027"/>
              <a:gd name="connsiteY4" fmla="*/ 0 h 5058263"/>
              <a:gd name="connsiteX0" fmla="*/ 4110211 w 4116027"/>
              <a:gd name="connsiteY0" fmla="*/ 1549397 h 5058263"/>
              <a:gd name="connsiteX1" fmla="*/ 4116027 w 4116027"/>
              <a:gd name="connsiteY1" fmla="*/ 5058263 h 5058263"/>
              <a:gd name="connsiteX2" fmla="*/ 0 w 4116027"/>
              <a:gd name="connsiteY2" fmla="*/ 5058263 h 5058263"/>
              <a:gd name="connsiteX3" fmla="*/ 0 w 4116027"/>
              <a:gd name="connsiteY3" fmla="*/ 0 h 5058263"/>
              <a:gd name="connsiteX4" fmla="*/ 3203647 w 4116027"/>
              <a:gd name="connsiteY4" fmla="*/ 0 h 5058263"/>
              <a:gd name="connsiteX0" fmla="*/ 4110211 w 4116027"/>
              <a:gd name="connsiteY0" fmla="*/ 1549397 h 5058263"/>
              <a:gd name="connsiteX1" fmla="*/ 4116027 w 4116027"/>
              <a:gd name="connsiteY1" fmla="*/ 5058263 h 5058263"/>
              <a:gd name="connsiteX2" fmla="*/ 0 w 4116027"/>
              <a:gd name="connsiteY2" fmla="*/ 5058263 h 5058263"/>
              <a:gd name="connsiteX3" fmla="*/ 0 w 4116027"/>
              <a:gd name="connsiteY3" fmla="*/ 0 h 5058263"/>
              <a:gd name="connsiteX4" fmla="*/ 2858576 w 4116027"/>
              <a:gd name="connsiteY4" fmla="*/ 0 h 5058263"/>
              <a:gd name="connsiteX0" fmla="*/ 4110211 w 4116027"/>
              <a:gd name="connsiteY0" fmla="*/ 1751767 h 5058263"/>
              <a:gd name="connsiteX1" fmla="*/ 4116027 w 4116027"/>
              <a:gd name="connsiteY1" fmla="*/ 5058263 h 5058263"/>
              <a:gd name="connsiteX2" fmla="*/ 0 w 4116027"/>
              <a:gd name="connsiteY2" fmla="*/ 5058263 h 5058263"/>
              <a:gd name="connsiteX3" fmla="*/ 0 w 4116027"/>
              <a:gd name="connsiteY3" fmla="*/ 0 h 5058263"/>
              <a:gd name="connsiteX4" fmla="*/ 2858576 w 4116027"/>
              <a:gd name="connsiteY4" fmla="*/ 0 h 5058263"/>
              <a:gd name="connsiteX0" fmla="*/ 4110211 w 4116027"/>
              <a:gd name="connsiteY0" fmla="*/ 1751767 h 5058263"/>
              <a:gd name="connsiteX1" fmla="*/ 4116027 w 4116027"/>
              <a:gd name="connsiteY1" fmla="*/ 5058263 h 5058263"/>
              <a:gd name="connsiteX2" fmla="*/ 0 w 4116027"/>
              <a:gd name="connsiteY2" fmla="*/ 5058263 h 5058263"/>
              <a:gd name="connsiteX3" fmla="*/ 0 w 4116027"/>
              <a:gd name="connsiteY3" fmla="*/ 0 h 5058263"/>
              <a:gd name="connsiteX4" fmla="*/ 2556812 w 4116027"/>
              <a:gd name="connsiteY4" fmla="*/ 6142 h 5058263"/>
              <a:gd name="connsiteX0" fmla="*/ 4110211 w 4116027"/>
              <a:gd name="connsiteY0" fmla="*/ 1751767 h 5058263"/>
              <a:gd name="connsiteX1" fmla="*/ 4116027 w 4116027"/>
              <a:gd name="connsiteY1" fmla="*/ 5058263 h 5058263"/>
              <a:gd name="connsiteX2" fmla="*/ 0 w 4116027"/>
              <a:gd name="connsiteY2" fmla="*/ 5058263 h 5058263"/>
              <a:gd name="connsiteX3" fmla="*/ 0 w 4116027"/>
              <a:gd name="connsiteY3" fmla="*/ 0 h 5058263"/>
              <a:gd name="connsiteX4" fmla="*/ 2470533 w 4116027"/>
              <a:gd name="connsiteY4" fmla="*/ 1434 h 5058263"/>
              <a:gd name="connsiteX0" fmla="*/ 4109005 w 4116027"/>
              <a:gd name="connsiteY0" fmla="*/ 1610052 h 5058263"/>
              <a:gd name="connsiteX1" fmla="*/ 4116027 w 4116027"/>
              <a:gd name="connsiteY1" fmla="*/ 5058263 h 5058263"/>
              <a:gd name="connsiteX2" fmla="*/ 0 w 4116027"/>
              <a:gd name="connsiteY2" fmla="*/ 5058263 h 5058263"/>
              <a:gd name="connsiteX3" fmla="*/ 0 w 4116027"/>
              <a:gd name="connsiteY3" fmla="*/ 0 h 5058263"/>
              <a:gd name="connsiteX4" fmla="*/ 2470533 w 4116027"/>
              <a:gd name="connsiteY4" fmla="*/ 1434 h 50582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16027" h="5058263">
                <a:moveTo>
                  <a:pt x="4109005" y="1610052"/>
                </a:moveTo>
                <a:cubicBezTo>
                  <a:pt x="4110944" y="2779674"/>
                  <a:pt x="4114088" y="3888641"/>
                  <a:pt x="4116027" y="5058263"/>
                </a:cubicBezTo>
                <a:lnTo>
                  <a:pt x="0" y="5058263"/>
                </a:lnTo>
                <a:lnTo>
                  <a:pt x="0" y="0"/>
                </a:lnTo>
                <a:lnTo>
                  <a:pt x="2470533" y="1434"/>
                </a:lnTo>
              </a:path>
            </a:pathLst>
          </a:cu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1B8C72F-9B53-4B39-2679-61FFF2384929}"/>
              </a:ext>
            </a:extLst>
          </p:cNvPr>
          <p:cNvSpPr>
            <a:spLocks noGrp="1"/>
          </p:cNvSpPr>
          <p:nvPr>
            <p:ph type="title"/>
          </p:nvPr>
        </p:nvSpPr>
        <p:spPr>
          <a:xfrm>
            <a:off x="759485" y="289234"/>
            <a:ext cx="8888368" cy="1810864"/>
          </a:xfrm>
          <a:noFill/>
        </p:spPr>
        <p:txBody>
          <a:bodyPr vert="horz" lIns="91440" tIns="45720" rIns="91440" bIns="45720" rtlCol="0" anchor="t">
            <a:normAutofit/>
          </a:bodyPr>
          <a:lstStyle/>
          <a:p>
            <a:r>
              <a:rPr lang="en-US" sz="3200" spc="530" dirty="0">
                <a:solidFill>
                  <a:schemeClr val="accent1">
                    <a:lumMod val="60000"/>
                    <a:lumOff val="40000"/>
                  </a:schemeClr>
                </a:solidFill>
              </a:rPr>
              <a:t>Potential Prototype Hardware</a:t>
            </a:r>
          </a:p>
        </p:txBody>
      </p:sp>
      <p:pic>
        <p:nvPicPr>
          <p:cNvPr id="1026" name="Picture 2" descr="Raspberry Pi 4 Model B - The Pi Hut">
            <a:extLst>
              <a:ext uri="{FF2B5EF4-FFF2-40B4-BE49-F238E27FC236}">
                <a16:creationId xmlns:a16="http://schemas.microsoft.com/office/drawing/2014/main" id="{53CFC2B1-8F46-E83F-E4B3-B0505ECA1A6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33" t="13559" r="1805" b="22222"/>
          <a:stretch/>
        </p:blipFill>
        <p:spPr bwMode="auto">
          <a:xfrm>
            <a:off x="1168189" y="1194666"/>
            <a:ext cx="3023555" cy="199433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4" name="Subtitle 2">
            <a:extLst>
              <a:ext uri="{FF2B5EF4-FFF2-40B4-BE49-F238E27FC236}">
                <a16:creationId xmlns:a16="http://schemas.microsoft.com/office/drawing/2014/main" id="{DFAAFC1D-8977-AC92-248C-D652F49ED9D9}"/>
              </a:ext>
            </a:extLst>
          </p:cNvPr>
          <p:cNvSpPr txBox="1">
            <a:spLocks/>
          </p:cNvSpPr>
          <p:nvPr/>
        </p:nvSpPr>
        <p:spPr>
          <a:xfrm>
            <a:off x="1168188" y="3579523"/>
            <a:ext cx="3023555" cy="2252110"/>
          </a:xfrm>
          <a:prstGeom prst="rect">
            <a:avLst/>
          </a:prstGeom>
          <a:noFill/>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GB" b="1" dirty="0">
                <a:solidFill>
                  <a:schemeClr val="bg2">
                    <a:lumMod val="10000"/>
                  </a:schemeClr>
                </a:solidFill>
              </a:rPr>
              <a:t>Raspberry Pi Board 4B:</a:t>
            </a:r>
          </a:p>
          <a:p>
            <a:pPr marL="285750" indent="-285750" algn="ctr">
              <a:buFont typeface="Arial" panose="020B0604020202020204" pitchFamily="34" charset="0"/>
              <a:buChar char="•"/>
            </a:pPr>
            <a:r>
              <a:rPr lang="en-GB" b="1" dirty="0">
                <a:solidFill>
                  <a:schemeClr val="bg2">
                    <a:lumMod val="10000"/>
                  </a:schemeClr>
                </a:solidFill>
              </a:rPr>
              <a:t>1.5GHz 64-bit quad-core CPU</a:t>
            </a:r>
          </a:p>
          <a:p>
            <a:pPr marL="285750" indent="-285750" algn="ctr">
              <a:buFont typeface="Arial" panose="020B0604020202020204" pitchFamily="34" charset="0"/>
              <a:buChar char="•"/>
            </a:pPr>
            <a:r>
              <a:rPr lang="en-GB" b="1" dirty="0">
                <a:solidFill>
                  <a:schemeClr val="bg2">
                    <a:lumMod val="10000"/>
                  </a:schemeClr>
                </a:solidFill>
              </a:rPr>
              <a:t>1GB RAM</a:t>
            </a:r>
          </a:p>
          <a:p>
            <a:pPr marL="285750" indent="-285750" algn="ctr">
              <a:buFont typeface="Arial" panose="020B0604020202020204" pitchFamily="34" charset="0"/>
              <a:buChar char="•"/>
            </a:pPr>
            <a:r>
              <a:rPr lang="en-GB" b="1" dirty="0">
                <a:solidFill>
                  <a:schemeClr val="bg2">
                    <a:lumMod val="10000"/>
                  </a:schemeClr>
                </a:solidFill>
              </a:rPr>
              <a:t>OpenGL ES 3.0 graphics</a:t>
            </a:r>
          </a:p>
          <a:p>
            <a:pPr algn="ctr"/>
            <a:endParaRPr lang="en-GB" dirty="0">
              <a:solidFill>
                <a:schemeClr val="bg2">
                  <a:lumMod val="10000"/>
                </a:schemeClr>
              </a:solidFill>
            </a:endParaRPr>
          </a:p>
        </p:txBody>
      </p:sp>
      <p:pic>
        <p:nvPicPr>
          <p:cNvPr id="1028" name="Picture 4" descr="3.5&quot; IPS Touch Screen for Raspberry Pi (GPIO/SPI) - The Pi Hut">
            <a:extLst>
              <a:ext uri="{FF2B5EF4-FFF2-40B4-BE49-F238E27FC236}">
                <a16:creationId xmlns:a16="http://schemas.microsoft.com/office/drawing/2014/main" id="{00D07525-8B33-BE1F-8BF1-41293FC9E98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001" t="13559" r="278" b="12500"/>
          <a:stretch/>
        </p:blipFill>
        <p:spPr bwMode="auto">
          <a:xfrm>
            <a:off x="4788046" y="1151714"/>
            <a:ext cx="2609850" cy="20372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6" name="Subtitle 2">
            <a:extLst>
              <a:ext uri="{FF2B5EF4-FFF2-40B4-BE49-F238E27FC236}">
                <a16:creationId xmlns:a16="http://schemas.microsoft.com/office/drawing/2014/main" id="{39A5812B-BFD2-F081-DCAF-44394B3F6617}"/>
              </a:ext>
            </a:extLst>
          </p:cNvPr>
          <p:cNvSpPr txBox="1">
            <a:spLocks/>
          </p:cNvSpPr>
          <p:nvPr/>
        </p:nvSpPr>
        <p:spPr>
          <a:xfrm>
            <a:off x="4581193" y="3579523"/>
            <a:ext cx="3023555" cy="2252110"/>
          </a:xfrm>
          <a:prstGeom prst="rect">
            <a:avLst/>
          </a:prstGeom>
          <a:noFill/>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GB" b="1" dirty="0">
                <a:solidFill>
                  <a:schemeClr val="bg2">
                    <a:lumMod val="10000"/>
                  </a:schemeClr>
                </a:solidFill>
              </a:rPr>
              <a:t>3.5" IPS Touch Screen:</a:t>
            </a:r>
          </a:p>
          <a:p>
            <a:pPr marL="285750" indent="-285750" algn="ctr">
              <a:buFont typeface="Arial" panose="020B0604020202020204" pitchFamily="34" charset="0"/>
              <a:buChar char="•"/>
            </a:pPr>
            <a:r>
              <a:rPr lang="en-GB" b="1" dirty="0">
                <a:solidFill>
                  <a:schemeClr val="bg2">
                    <a:lumMod val="10000"/>
                  </a:schemeClr>
                </a:solidFill>
              </a:rPr>
              <a:t>480×320 resolution</a:t>
            </a:r>
          </a:p>
          <a:p>
            <a:pPr marL="285750" indent="-285750" algn="ctr">
              <a:buFont typeface="Arial" panose="020B0604020202020204" pitchFamily="34" charset="0"/>
              <a:buChar char="•"/>
            </a:pPr>
            <a:r>
              <a:rPr lang="en-GB" b="1" dirty="0">
                <a:solidFill>
                  <a:schemeClr val="bg2">
                    <a:lumMod val="10000"/>
                  </a:schemeClr>
                </a:solidFill>
              </a:rPr>
              <a:t>Resistive touch control</a:t>
            </a:r>
          </a:p>
        </p:txBody>
      </p:sp>
      <p:pic>
        <p:nvPicPr>
          <p:cNvPr id="8" name="Picture 7">
            <a:extLst>
              <a:ext uri="{FF2B5EF4-FFF2-40B4-BE49-F238E27FC236}">
                <a16:creationId xmlns:a16="http://schemas.microsoft.com/office/drawing/2014/main" id="{400BC0AF-E35E-4122-7F75-A88990DEEE96}"/>
              </a:ext>
            </a:extLst>
          </p:cNvPr>
          <p:cNvPicPr>
            <a:picLocks noChangeAspect="1"/>
          </p:cNvPicPr>
          <p:nvPr/>
        </p:nvPicPr>
        <p:blipFill>
          <a:blip r:embed="rId5"/>
          <a:stretch>
            <a:fillRect/>
          </a:stretch>
        </p:blipFill>
        <p:spPr>
          <a:xfrm>
            <a:off x="8518911" y="1195352"/>
            <a:ext cx="2037286" cy="20372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Subtitle 2">
            <a:extLst>
              <a:ext uri="{FF2B5EF4-FFF2-40B4-BE49-F238E27FC236}">
                <a16:creationId xmlns:a16="http://schemas.microsoft.com/office/drawing/2014/main" id="{2CB10EE6-7F41-C8EF-93F7-462BE319B2B0}"/>
              </a:ext>
            </a:extLst>
          </p:cNvPr>
          <p:cNvSpPr txBox="1">
            <a:spLocks/>
          </p:cNvSpPr>
          <p:nvPr/>
        </p:nvSpPr>
        <p:spPr>
          <a:xfrm>
            <a:off x="7994198" y="3579523"/>
            <a:ext cx="3023555" cy="2252110"/>
          </a:xfrm>
          <a:prstGeom prst="rect">
            <a:avLst/>
          </a:prstGeom>
          <a:noFill/>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GB" b="1" dirty="0">
                <a:solidFill>
                  <a:schemeClr val="bg2">
                    <a:lumMod val="10000"/>
                  </a:schemeClr>
                </a:solidFill>
              </a:rPr>
              <a:t>Micro SD Card:</a:t>
            </a:r>
          </a:p>
          <a:p>
            <a:pPr marL="285750" indent="-285750" algn="ctr">
              <a:buFont typeface="Arial" panose="020B0604020202020204" pitchFamily="34" charset="0"/>
              <a:buChar char="•"/>
            </a:pPr>
            <a:r>
              <a:rPr lang="en-GB" b="1" dirty="0">
                <a:solidFill>
                  <a:schemeClr val="bg2">
                    <a:lumMod val="10000"/>
                  </a:schemeClr>
                </a:solidFill>
              </a:rPr>
              <a:t>32GB storage</a:t>
            </a:r>
          </a:p>
          <a:p>
            <a:pPr marL="285750" indent="-285750" algn="ctr">
              <a:buFont typeface="Arial" panose="020B0604020202020204" pitchFamily="34" charset="0"/>
              <a:buChar char="•"/>
            </a:pPr>
            <a:r>
              <a:rPr lang="en-GB" b="1" dirty="0">
                <a:solidFill>
                  <a:schemeClr val="bg2">
                    <a:lumMod val="10000"/>
                  </a:schemeClr>
                </a:solidFill>
              </a:rPr>
              <a:t>Operating System</a:t>
            </a:r>
          </a:p>
        </p:txBody>
      </p:sp>
      <p:sp>
        <p:nvSpPr>
          <p:cNvPr id="12" name="Subtitle 2">
            <a:extLst>
              <a:ext uri="{FF2B5EF4-FFF2-40B4-BE49-F238E27FC236}">
                <a16:creationId xmlns:a16="http://schemas.microsoft.com/office/drawing/2014/main" id="{8610DEDF-431F-29F4-C6E0-5E62559A22D4}"/>
              </a:ext>
            </a:extLst>
          </p:cNvPr>
          <p:cNvSpPr txBox="1">
            <a:spLocks/>
          </p:cNvSpPr>
          <p:nvPr/>
        </p:nvSpPr>
        <p:spPr>
          <a:xfrm>
            <a:off x="7914351" y="5473388"/>
            <a:ext cx="4271592" cy="891978"/>
          </a:xfrm>
          <a:prstGeom prst="rect">
            <a:avLst/>
          </a:prstGeom>
          <a:noFill/>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sz="1800" kern="1200">
                <a:solidFill>
                  <a:schemeClr val="tx1"/>
                </a:solidFill>
                <a:latin typeface="+mn-lt"/>
                <a:ea typeface="+mn-ea"/>
                <a:cs typeface="+mn-cs"/>
              </a:defRPr>
            </a:lvl1pPr>
            <a:lvl2pPr marL="457200" indent="0" algn="ctr" defTabSz="914400" rtl="0" eaLnBrk="1" latinLnBrk="0" hangingPunct="1">
              <a:lnSpc>
                <a:spcPct val="12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GB" dirty="0">
                <a:solidFill>
                  <a:schemeClr val="accent1">
                    <a:lumMod val="60000"/>
                    <a:lumOff val="40000"/>
                  </a:schemeClr>
                </a:solidFill>
                <a:hlinkClick r:id="rId6"/>
              </a:rPr>
              <a:t>https://thepihut.com/</a:t>
            </a:r>
            <a:endParaRPr lang="en-GB" dirty="0">
              <a:solidFill>
                <a:schemeClr val="accent1">
                  <a:lumMod val="60000"/>
                  <a:lumOff val="40000"/>
                </a:schemeClr>
              </a:solidFill>
            </a:endParaRPr>
          </a:p>
          <a:p>
            <a:pPr algn="ctr"/>
            <a:endParaRPr lang="en-GB" dirty="0">
              <a:solidFill>
                <a:schemeClr val="accent1">
                  <a:lumMod val="60000"/>
                  <a:lumOff val="40000"/>
                </a:schemeClr>
              </a:solidFill>
            </a:endParaRPr>
          </a:p>
        </p:txBody>
      </p:sp>
      <p:sp>
        <p:nvSpPr>
          <p:cNvPr id="16" name="TextBox 15">
            <a:extLst>
              <a:ext uri="{FF2B5EF4-FFF2-40B4-BE49-F238E27FC236}">
                <a16:creationId xmlns:a16="http://schemas.microsoft.com/office/drawing/2014/main" id="{A23475F4-9FB1-662C-3DAB-627A3C0CAB84}"/>
              </a:ext>
            </a:extLst>
          </p:cNvPr>
          <p:cNvSpPr txBox="1"/>
          <p:nvPr/>
        </p:nvSpPr>
        <p:spPr>
          <a:xfrm>
            <a:off x="7994197" y="5504206"/>
            <a:ext cx="4819065" cy="369332"/>
          </a:xfrm>
          <a:prstGeom prst="rect">
            <a:avLst/>
          </a:prstGeom>
          <a:noFill/>
        </p:spPr>
        <p:txBody>
          <a:bodyPr wrap="square">
            <a:spAutoFit/>
          </a:bodyPr>
          <a:lstStyle/>
          <a:p>
            <a:r>
              <a:rPr lang="en-GB" dirty="0"/>
              <a:t>Source:</a:t>
            </a:r>
          </a:p>
        </p:txBody>
      </p:sp>
    </p:spTree>
    <p:extLst>
      <p:ext uri="{BB962C8B-B14F-4D97-AF65-F5344CB8AC3E}">
        <p14:creationId xmlns:p14="http://schemas.microsoft.com/office/powerpoint/2010/main" val="274990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827EA-3BCE-33EA-9F58-D1C746BC7966}"/>
              </a:ext>
            </a:extLst>
          </p:cNvPr>
          <p:cNvSpPr>
            <a:spLocks noGrp="1"/>
          </p:cNvSpPr>
          <p:nvPr>
            <p:ph type="title"/>
          </p:nvPr>
        </p:nvSpPr>
        <p:spPr>
          <a:xfrm>
            <a:off x="913076" y="336430"/>
            <a:ext cx="8977511" cy="555862"/>
          </a:xfrm>
        </p:spPr>
        <p:txBody>
          <a:bodyPr>
            <a:normAutofit fontScale="90000"/>
          </a:bodyPr>
          <a:lstStyle/>
          <a:p>
            <a:r>
              <a:rPr lang="en-GB" dirty="0"/>
              <a:t>References &amp; Citations</a:t>
            </a:r>
          </a:p>
        </p:txBody>
      </p:sp>
      <p:sp>
        <p:nvSpPr>
          <p:cNvPr id="3" name="Content Placeholder 2">
            <a:extLst>
              <a:ext uri="{FF2B5EF4-FFF2-40B4-BE49-F238E27FC236}">
                <a16:creationId xmlns:a16="http://schemas.microsoft.com/office/drawing/2014/main" id="{D375CC23-3E20-818A-CDEA-D9D67F57A438}"/>
              </a:ext>
            </a:extLst>
          </p:cNvPr>
          <p:cNvSpPr>
            <a:spLocks noGrp="1"/>
          </p:cNvSpPr>
          <p:nvPr>
            <p:ph idx="1"/>
          </p:nvPr>
        </p:nvSpPr>
        <p:spPr>
          <a:xfrm>
            <a:off x="1009291" y="1009291"/>
            <a:ext cx="10187795" cy="4552133"/>
          </a:xfrm>
        </p:spPr>
        <p:txBody>
          <a:bodyPr/>
          <a:lstStyle/>
          <a:p>
            <a:pPr marL="0" indent="0">
              <a:buNone/>
            </a:pPr>
            <a:r>
              <a:rPr lang="en-GB" dirty="0"/>
              <a:t>Bethesda Game Studios (2008), Fallout 3 [Video Game] : Fallout | Bethesda.net. (n.d.). </a:t>
            </a:r>
            <a:r>
              <a:rPr lang="en-GB" dirty="0">
                <a:hlinkClick r:id="rId2"/>
              </a:rPr>
              <a:t>https://fallout.bethesda.net/en/games/fallout-3</a:t>
            </a:r>
            <a:r>
              <a:rPr lang="en-GB" dirty="0"/>
              <a:t>                                                                                                Fallout Pip Boy PNG , PNG download - Raspberry Pi Zero Pip Boy, Transparent PNG , Transparent PNG Image - </a:t>
            </a:r>
            <a:r>
              <a:rPr lang="en-GB" dirty="0" err="1"/>
              <a:t>PNGitem</a:t>
            </a:r>
            <a:r>
              <a:rPr lang="en-GB" dirty="0"/>
              <a:t>. (n.d.). PNGitem.com. </a:t>
            </a:r>
            <a:r>
              <a:rPr lang="en-GB" dirty="0">
                <a:hlinkClick r:id="rId3"/>
              </a:rPr>
              <a:t>https://www.pngitem.com/middle/iRhmmTh_fallout-pip-boy-png-png-download-raspberry-pi/</a:t>
            </a:r>
            <a:endParaRPr lang="en-GB" dirty="0"/>
          </a:p>
          <a:p>
            <a:pPr marL="0" indent="0">
              <a:buNone/>
            </a:pPr>
            <a:endParaRPr lang="en-GB" dirty="0"/>
          </a:p>
          <a:p>
            <a:pPr marL="0" indent="0">
              <a:buNone/>
            </a:pPr>
            <a:r>
              <a:rPr lang="en-GB" dirty="0"/>
              <a:t>Roddenberry, G. (Executive Producer),Star Trek (September 8,1966 – June 3, 1969), NBC            Wheeler, C. (n.d.). Wrist Communicator. Flickr. </a:t>
            </a:r>
            <a:r>
              <a:rPr lang="en-GB" dirty="0">
                <a:hlinkClick r:id="rId4"/>
              </a:rPr>
              <a:t>https://www.flickr.com/photos/28221085@N03/4328189080</a:t>
            </a:r>
            <a:endParaRPr lang="en-GB" dirty="0"/>
          </a:p>
          <a:p>
            <a:pPr marL="0" indent="0">
              <a:buNone/>
            </a:pPr>
            <a:endParaRPr lang="en-GB" dirty="0"/>
          </a:p>
        </p:txBody>
      </p:sp>
    </p:spTree>
    <p:extLst>
      <p:ext uri="{BB962C8B-B14F-4D97-AF65-F5344CB8AC3E}">
        <p14:creationId xmlns:p14="http://schemas.microsoft.com/office/powerpoint/2010/main" val="987145547"/>
      </p:ext>
    </p:extLst>
  </p:cSld>
  <p:clrMapOvr>
    <a:masterClrMapping/>
  </p:clrMapOvr>
</p:sld>
</file>

<file path=ppt/theme/theme1.xml><?xml version="1.0" encoding="utf-8"?>
<a:theme xmlns:a="http://schemas.openxmlformats.org/drawingml/2006/main" name="LimelightVTI">
  <a:themeElements>
    <a:clrScheme name="AnalogousFromDarkSeedLeftStep">
      <a:dk1>
        <a:srgbClr val="000000"/>
      </a:dk1>
      <a:lt1>
        <a:srgbClr val="FFFFFF"/>
      </a:lt1>
      <a:dk2>
        <a:srgbClr val="1A1634"/>
      </a:dk2>
      <a:lt2>
        <a:srgbClr val="F0F3F3"/>
      </a:lt2>
      <a:accent1>
        <a:srgbClr val="E72950"/>
      </a:accent1>
      <a:accent2>
        <a:srgbClr val="D5178E"/>
      </a:accent2>
      <a:accent3>
        <a:srgbClr val="DF29E7"/>
      </a:accent3>
      <a:accent4>
        <a:srgbClr val="7E17D5"/>
      </a:accent4>
      <a:accent5>
        <a:srgbClr val="4129E7"/>
      </a:accent5>
      <a:accent6>
        <a:srgbClr val="174ED5"/>
      </a:accent6>
      <a:hlink>
        <a:srgbClr val="7351C5"/>
      </a:hlink>
      <a:folHlink>
        <a:srgbClr val="7F7F7F"/>
      </a:folHlink>
    </a:clrScheme>
    <a:fontScheme name="Trade Gothic">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imelightVTI" id="{7936DCFD-B587-41FD-9126-64F2709ED40B}" vid="{74F41540-78F1-4C56-9EAA-6FA6E9F1D7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TotalTime>
  <Words>762</Words>
  <Application>Microsoft Office PowerPoint</Application>
  <PresentationFormat>Widescreen</PresentationFormat>
  <Paragraphs>64</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Trade Gothic Next Cond</vt:lpstr>
      <vt:lpstr>Trade Gothic Next Light</vt:lpstr>
      <vt:lpstr>Ubuntu</vt:lpstr>
      <vt:lpstr>LimelightVTI</vt:lpstr>
      <vt:lpstr>Design &amp; Development of Wrist Mounted Smart Device</vt:lpstr>
      <vt:lpstr>Introduction</vt:lpstr>
      <vt:lpstr>PowerPoint Presentation</vt:lpstr>
      <vt:lpstr>Inspirations for the idea</vt:lpstr>
      <vt:lpstr>Mood board</vt:lpstr>
      <vt:lpstr>Early-Stage Sketches </vt:lpstr>
      <vt:lpstr>Potential Prototype Hardware</vt:lpstr>
      <vt:lpstr>References &amp; Citations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&amp; Development of Wrist Mounted Smart Device</dc:title>
  <dc:creator>Oliver Lewis</dc:creator>
  <cp:lastModifiedBy>Oliver Lewis</cp:lastModifiedBy>
  <cp:revision>4</cp:revision>
  <dcterms:created xsi:type="dcterms:W3CDTF">2024-01-30T17:28:32Z</dcterms:created>
  <dcterms:modified xsi:type="dcterms:W3CDTF">2024-03-09T17:15:59Z</dcterms:modified>
</cp:coreProperties>
</file>